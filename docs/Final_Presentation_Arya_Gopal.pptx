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33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3233F"/>
                </a:solidFill>
                <a:latin typeface="Arial"/>
              </a:rPr>
              <a:t>Papers per research theme (of 30)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Papers</c:v>
                </c:pt>
              </c:strCache>
            </c:strRef>
          </c:tx>
          <c:spPr>
            <a:solidFill>
              <a:srgbClr val="0E9F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323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Surveys / Benchmarks</c:v>
                  </c:pt>
                  <c:pt idx="1">
                    <c:v>Uncertainty Quantification</c:v>
                  </c:pt>
                  <c:pt idx="2">
                    <c:v>Explainability (XAI)</c:v>
                  </c:pt>
                  <c:pt idx="3">
                    <c:v>A-V Fusion Architectures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4</c:v>
                </c:pt>
                <c:pt idx="2">
                  <c:v>7</c:v>
                </c:pt>
                <c:pt idx="3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323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D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</c:scaling>
        <c:delete val="0"/>
        <c:axPos val="b"/>
        <c:majorGridlines>
          <c:spPr>
            <a:ln w="6350" cap="flat">
              <a:solidFill>
                <a:srgbClr val="E5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I am Arya Gopal. My dissertation, guided by Mrs. Megha V, proposes a deepfake detector that fuses audio and video, explains its decisions and knows when it is unsure.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fakes now combine a manipulated face with cloned speech; unimodal checks miss this. The three numbers come from the literature survey.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each modality carries its own artefacts, and the strongest cue is the disagreement between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matrix is the core of the gap argument: every column is covered by someone, but only the proposed framework ticks all five.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input, two preprocessing lanes, two encoders, cross-attention fusion, classifier, then the explanation and uncertainty outputs and the confidence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FakeAVCeleb has four audio-visual combinations. Note the heavy imbalance: real/real clips are a small minority, which is why focal loss and balanced sampling are used. Confirm the exact counts you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idea: visual tokens ask questions of the audio and audio tokens ask questions of the video. Mismatches produce distinctive attention patterns that the classifier learns.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these values match your final training runs; edit any that changed (for example epochs or batch size).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your final code differs, paste the real class here. Point out the bidirectional attention calls and the returned attention weights, which feed the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introduce the live demo. Replace the mock panels with a screenshot of your running Streamlit / FastAPI dashboard if you have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any stage that is not fully complete before presenting. The evaluation expects a working end-to-end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every amber cell with numbers from your final test run. Then state in one sentence how much fusion improves over the best unimodal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removes or changes exactly one design choice. Use it to show that cross-attention beats naive concatenation, and that the uncertainty module improves ECE without hurting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your reliability diagram inside the frame on the left. A curve closer to the diagonal means better calibration.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 your Grad-CAM and SHAP outputs into these frames: one fake face-swap example, one real example, one cloned-voice SHAP plot and the deletion curve.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Literature reports 45–50% AUC loss in the wild; any smaller drop for your model is a strong point to highlight.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 each test Pass or Fail after your final run. TC-07 and TC-09 depend on your measured ECE and latency.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caveat: reported numbers come from different datasets and protocols. The key message is capability — only this work delivers fusion, explanation and uncertainty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the final target venue with your guide and state it here, along with your similarity-report percentage.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image" Target="../media/image-57-5.png"/><Relationship Id="rId6" Type="http://schemas.openxmlformats.org/officeDocument/2006/relationships/image" Target="../media/image-5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DISSERTATION  |  FINAL EVALUATION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Explainable and Uncertainty-Aware Audio-Visual Deepfake Detection Framework using Cross-Modal Attention Fusion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11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  ·  22 September 2026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43484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1D3358"/>
          </a:solidFill>
          <a:ln w="9525">
            <a:solidFill>
              <a:srgbClr val="2A44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5262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M250801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CSE (AI &amp; ML), S3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443484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1D3358"/>
          </a:solidFill>
          <a:ln w="9525">
            <a:solidFill>
              <a:srgbClr val="2A44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45262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Megha V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AI &amp; DS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Rajagiri School of Engineering &amp; Technology (Autonomous), Kochi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915400" y="1143000"/>
            <a:ext cx="2651760" cy="2514600"/>
          </a:xfrm>
          <a:prstGeom prst="roundRect">
            <a:avLst>
              <a:gd name="adj" fmla="val 5455"/>
            </a:avLst>
          </a:prstGeom>
          <a:solidFill>
            <a:srgbClr val="1A2E52"/>
          </a:solidFill>
          <a:ln w="25400">
            <a:solidFill>
              <a:srgbClr val="0E9F8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46920" y="1417320"/>
            <a:ext cx="1188720" cy="1508760"/>
          </a:xfrm>
          <a:prstGeom prst="ellipse">
            <a:avLst/>
          </a:prstGeom>
          <a:solidFill>
            <a:srgbClr val="22406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0" y="2514600"/>
            <a:ext cx="731520" cy="164592"/>
          </a:xfrm>
          <a:prstGeom prst="roundRect">
            <a:avLst>
              <a:gd name="adj" fmla="val 27778"/>
            </a:avLst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15400" y="3200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stream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4457700"/>
            <a:ext cx="91440" cy="228600"/>
          </a:xfrm>
          <a:prstGeom prst="roundRect">
            <a:avLst>
              <a:gd name="adj" fmla="val 30000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14739" y="4343400"/>
            <a:ext cx="91440" cy="457200"/>
          </a:xfrm>
          <a:prstGeom prst="roundRect">
            <a:avLst>
              <a:gd name="adj" fmla="val 30000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68358" y="4206240"/>
            <a:ext cx="91440" cy="731520"/>
          </a:xfrm>
          <a:prstGeom prst="roundRect">
            <a:avLst>
              <a:gd name="adj" fmla="val 30000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21978" y="4366260"/>
            <a:ext cx="91440" cy="411480"/>
          </a:xfrm>
          <a:prstGeom prst="roundRect">
            <a:avLst>
              <a:gd name="adj" fmla="val 30000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75597" y="4114800"/>
            <a:ext cx="91440" cy="914400"/>
          </a:xfrm>
          <a:prstGeom prst="roundRect">
            <a:avLst>
              <a:gd name="adj" fmla="val 30000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4274820"/>
            <a:ext cx="91440" cy="594360"/>
          </a:xfrm>
          <a:prstGeom prst="roundRect">
            <a:avLst>
              <a:gd name="adj" fmla="val 30000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82835" y="4411980"/>
            <a:ext cx="91440" cy="320040"/>
          </a:xfrm>
          <a:prstGeom prst="roundRect">
            <a:avLst>
              <a:gd name="adj" fmla="val 30000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36454" y="4160520"/>
            <a:ext cx="91440" cy="822960"/>
          </a:xfrm>
          <a:prstGeom prst="roundRect">
            <a:avLst>
              <a:gd name="adj" fmla="val 30000"/>
            </a:avLst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90074" y="4023360"/>
            <a:ext cx="91440" cy="1097280"/>
          </a:xfrm>
          <a:prstGeom prst="roundRect">
            <a:avLst>
              <a:gd name="adj" fmla="val 30000"/>
            </a:avLst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43693" y="4091940"/>
            <a:ext cx="91440" cy="960120"/>
          </a:xfrm>
          <a:prstGeom prst="roundRect">
            <a:avLst>
              <a:gd name="adj" fmla="val 30000"/>
            </a:avLst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97312" y="4320540"/>
            <a:ext cx="91440" cy="502920"/>
          </a:xfrm>
          <a:prstGeom prst="roundRect">
            <a:avLst>
              <a:gd name="adj" fmla="val 30000"/>
            </a:avLst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50931" y="4206240"/>
            <a:ext cx="91440" cy="731520"/>
          </a:xfrm>
          <a:prstGeom prst="roundRect">
            <a:avLst>
              <a:gd name="adj" fmla="val 30000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804550" y="4389120"/>
            <a:ext cx="91440" cy="365760"/>
          </a:xfrm>
          <a:prstGeom prst="roundRect">
            <a:avLst>
              <a:gd name="adj" fmla="val 30000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58170" y="4251960"/>
            <a:ext cx="91440" cy="640080"/>
          </a:xfrm>
          <a:prstGeom prst="roundRect">
            <a:avLst>
              <a:gd name="adj" fmla="val 30000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111789" y="4434840"/>
            <a:ext cx="91440" cy="274320"/>
          </a:xfrm>
          <a:prstGeom prst="roundRect">
            <a:avLst>
              <a:gd name="adj" fmla="val 30000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265408" y="4320540"/>
            <a:ext cx="91440" cy="502920"/>
          </a:xfrm>
          <a:prstGeom prst="roundRect">
            <a:avLst>
              <a:gd name="adj" fmla="val 30000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419027" y="4480560"/>
            <a:ext cx="91440" cy="182880"/>
          </a:xfrm>
          <a:prstGeom prst="roundRect">
            <a:avLst>
              <a:gd name="adj" fmla="val 30000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15400" y="5257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stream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915400" y="3749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2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inconsistency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Agenda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40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618488"/>
            <a:ext cx="420624" cy="420624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508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95144"/>
            <a:ext cx="5440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404872"/>
            <a:ext cx="420624" cy="420624"/>
          </a:xfrm>
          <a:prstGeom prst="ellipse">
            <a:avLst/>
          </a:prstGeom>
          <a:solidFill>
            <a:srgbClr val="D94A4A"/>
          </a:solidFill>
          <a:ln>
            <a:solidFill>
              <a:srgbClr val="D9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29514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081528"/>
            <a:ext cx="5440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191256"/>
            <a:ext cx="420624" cy="420624"/>
          </a:xfrm>
          <a:prstGeom prst="ellipse">
            <a:avLst/>
          </a:prstGeom>
          <a:solidFill>
            <a:srgbClr val="E39B2D"/>
          </a:solidFill>
          <a:ln>
            <a:solidFill>
              <a:srgbClr val="E39B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0815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&amp; Research Gap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867912"/>
            <a:ext cx="5440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977640"/>
            <a:ext cx="420624" cy="420624"/>
          </a:xfrm>
          <a:prstGeom prst="ellipse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86791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 Specification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654296"/>
            <a:ext cx="5440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4764024"/>
            <a:ext cx="420624" cy="420624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65429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HLD &amp; LLD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5440680"/>
            <a:ext cx="5440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5550408"/>
            <a:ext cx="420624" cy="420624"/>
          </a:xfrm>
          <a:prstGeom prst="ellipse">
            <a:avLst/>
          </a:prstGeom>
          <a:solidFill>
            <a:srgbClr val="D94A4A"/>
          </a:solidFill>
          <a:ln>
            <a:solidFill>
              <a:srgbClr val="D9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440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DFD, Use Case, ER &amp; UML Diagrams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2200" y="1508760"/>
            <a:ext cx="5440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9360" y="1618488"/>
            <a:ext cx="420624" cy="420624"/>
          </a:xfrm>
          <a:prstGeom prst="ellipse">
            <a:avLst/>
          </a:prstGeom>
          <a:solidFill>
            <a:srgbClr val="E39B2D"/>
          </a:solidFill>
          <a:ln>
            <a:solidFill>
              <a:srgbClr val="E39B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1508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2200" y="2295144"/>
            <a:ext cx="5440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09360" y="2404872"/>
            <a:ext cx="420624" cy="420624"/>
          </a:xfrm>
          <a:prstGeom prst="ellipse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229514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 &amp; Algorithms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2200" y="3081528"/>
            <a:ext cx="5440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09360" y="3191256"/>
            <a:ext cx="420624" cy="420624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30815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Prototype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2200" y="3867912"/>
            <a:ext cx="5440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09360" y="3977640"/>
            <a:ext cx="420624" cy="420624"/>
          </a:xfrm>
          <a:prstGeom prst="ellipse">
            <a:avLst/>
          </a:prstGeom>
          <a:solidFill>
            <a:srgbClr val="D94A4A"/>
          </a:solidFill>
          <a:ln>
            <a:solidFill>
              <a:srgbClr val="D9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903720" y="386791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Ablation &amp; Comparison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72200" y="4654296"/>
            <a:ext cx="5440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09360" y="4764024"/>
            <a:ext cx="420624" cy="420624"/>
          </a:xfrm>
          <a:prstGeom prst="ellipse">
            <a:avLst/>
          </a:prstGeom>
          <a:solidFill>
            <a:srgbClr val="E39B2D"/>
          </a:solidFill>
          <a:ln>
            <a:solidFill>
              <a:srgbClr val="E39B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903720" y="465429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&amp; Target Venue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72200" y="5440680"/>
            <a:ext cx="5440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309360" y="5550408"/>
            <a:ext cx="420624" cy="420624"/>
          </a:xfrm>
          <a:prstGeom prst="ellipse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903720" y="5440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Future Scope &amp; References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097280"/>
            <a:ext cx="5029200" cy="5029200"/>
          </a:xfrm>
          <a:prstGeom prst="ellipse">
            <a:avLst/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931920"/>
            <a:ext cx="3291840" cy="3291840"/>
          </a:xfrm>
          <a:prstGeom prst="ellipse">
            <a:avLst/>
          </a:prstGeom>
          <a:solidFill>
            <a:srgbClr val="17404F"/>
          </a:solidFill>
          <a:ln w="12700">
            <a:solidFill>
              <a:srgbClr val="1740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motivation and the problem this dissertation addresses.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Background: The Rise of Multimodal Deepfakes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676656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68680" y="16916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problem matters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240280"/>
            <a:ext cx="6217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(GANs, diffusion models, voice-cloning engines) now produces video and speech that is nearly indistinguishable from authentic recordings.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deepfakes pair a manipulated face with cloned or altered speech, so single-modality detectors are easy to evade.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leaves subtle, mismatched cues across modalities (lip-sync drift, vocoder artefacts) that appear only when audio and video are analysed jointly.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threaten elections, journalism, judicial evidence and voice-based financial fraud.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(EU AI Act, India's IT Rules on synthetic content) increasingly demands verifiable and explainable detection tools.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589520" y="1508760"/>
            <a:ext cx="40507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818120" y="164592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45–50%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9555480" y="164592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drop of SOTA detectors on in-the-wild deepfakes vs academic benchmarks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589520" y="3108960"/>
            <a:ext cx="40507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818120" y="324612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9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98.6%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9555480" y="324612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reported A-V fusion accuracy (AVFF, FakeAVCeleb) — with no explanation attached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589520" y="4709160"/>
            <a:ext cx="40507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818120" y="484632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9555480" y="484632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or uncertainty layers in leading fusion models (AVFF, MIS-AVoiDD, AVFakeNet)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Audio-Visual Fusion?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1109167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1783080"/>
            <a:ext cx="731520" cy="731520"/>
          </a:xfrm>
          <a:prstGeom prst="ellipse">
            <a:avLst/>
          </a:prstGeom>
          <a:solidFill>
            <a:srgbClr val="13233F"/>
          </a:solidFill>
          <a:ln w="12700">
            <a:solidFill>
              <a:srgbClr val="13233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9659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178308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stream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frames · lip motion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914400" y="2743200"/>
            <a:ext cx="731520" cy="73152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9260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83080" y="274320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0E9F8E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stream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· spectral texture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434840" y="2148840"/>
            <a:ext cx="1051560" cy="36576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 flipV="1">
            <a:off x="4434840" y="2743200"/>
            <a:ext cx="1051560" cy="365760"/>
          </a:xfrm>
          <a:prstGeom prst="line">
            <a:avLst/>
          </a:prstGeom>
          <a:noFill/>
          <a:ln w="19050">
            <a:solidFill>
              <a:srgbClr val="0E9F8E"/>
            </a:solidFill>
            <a:prstDash val="solid"/>
            <a:tailEnd type="triangle"/>
          </a:ln>
        </p:spPr>
      </p:sp>
      <p:sp>
        <p:nvSpPr>
          <p:cNvPr id="16" name="Text 11"/>
          <p:cNvSpPr/>
          <p:nvPr/>
        </p:nvSpPr>
        <p:spPr>
          <a:xfrm>
            <a:off x="5486400" y="219456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D94A4A"/>
          </a:solidFill>
          <a:ln w="12700">
            <a:solidFill>
              <a:srgbClr val="D94A4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consistency reasoning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229600" y="2651760"/>
            <a:ext cx="640080" cy="0"/>
          </a:xfrm>
          <a:prstGeom prst="line">
            <a:avLst/>
          </a:prstGeom>
          <a:noFill/>
          <a:ln w="19050">
            <a:solidFill>
              <a:srgbClr val="D94A4A"/>
            </a:solidFill>
            <a:prstDash val="solid"/>
            <a:tailEnd type="triangle"/>
          </a:ln>
        </p:spPr>
      </p:sp>
      <p:sp>
        <p:nvSpPr>
          <p:cNvPr id="18" name="Text 13"/>
          <p:cNvSpPr/>
          <p:nvPr/>
        </p:nvSpPr>
        <p:spPr>
          <a:xfrm>
            <a:off x="8869680" y="2103120"/>
            <a:ext cx="2514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4A4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fakes that look or sound real on their own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57016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77240" y="4160520"/>
            <a:ext cx="420624" cy="420624"/>
          </a:xfrm>
          <a:prstGeom prst="ellipse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325880" y="4151376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Lip-sync drift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822960" y="4754880"/>
            <a:ext cx="3054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Mouth movements do not match phonemes — visible only when both streams are compared.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315968" y="3931920"/>
            <a:ext cx="3557016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4544568" y="4160520"/>
            <a:ext cx="420624" cy="420624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5093208" y="4151376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artefacts</a:t>
            </a:r>
            <a:endParaRPr lang="en-US" sz="1700" dirty="0"/>
          </a:p>
        </p:txBody>
      </p:sp>
      <p:sp>
        <p:nvSpPr>
          <p:cNvPr id="26" name="Text 21"/>
          <p:cNvSpPr txBox="1"/>
          <p:nvPr/>
        </p:nvSpPr>
        <p:spPr>
          <a:xfrm>
            <a:off x="4590288" y="4754880"/>
            <a:ext cx="3054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Vocoder and TTS traces in the Mel spectrum of cloned voices, even when the face is real.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8083296" y="3931920"/>
            <a:ext cx="3557016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8311896" y="4160520"/>
            <a:ext cx="420624" cy="420624"/>
          </a:xfrm>
          <a:prstGeom prst="ellipse">
            <a:avLst/>
          </a:prstGeom>
          <a:solidFill>
            <a:srgbClr val="D94A4A"/>
          </a:solidFill>
          <a:ln>
            <a:solidFill>
              <a:srgbClr val="D9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860536" y="4151376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mismatch</a:t>
            </a:r>
            <a:endParaRPr lang="en-US" sz="1700" dirty="0"/>
          </a:p>
        </p:txBody>
      </p:sp>
      <p:sp>
        <p:nvSpPr>
          <p:cNvPr id="30" name="Text 25"/>
          <p:cNvSpPr txBox="1"/>
          <p:nvPr/>
        </p:nvSpPr>
        <p:spPr>
          <a:xfrm>
            <a:off x="8357616" y="4754880"/>
            <a:ext cx="3054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Face-swapped video paired with original audio, or real video with a cloned voice.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Existing Challenges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3233F"/>
          </a:solidFill>
          <a:ln w="12700">
            <a:solidFill>
              <a:srgbClr val="1323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55448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3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audio-visual deepfake detectors rely on opaque fusion of audio and video streams. They classify a clip as real or fake with high accuracy, but give no transparent reasoning and no way to flag uncertain predictions for human review — a wrong high-confidence verdict looks identical to a correct one.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264261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383280"/>
            <a:ext cx="420624" cy="420624"/>
          </a:xfrm>
          <a:prstGeom prst="ellipse">
            <a:avLst/>
          </a:prstGeom>
          <a:solidFill>
            <a:srgbClr val="D94A4A"/>
          </a:solidFill>
          <a:ln>
            <a:solidFill>
              <a:srgbClr val="D9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374136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decisions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77640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forensic or legal traceability for why a clip is flagged.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64992" y="3154680"/>
            <a:ext cx="264261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93592" y="3383280"/>
            <a:ext cx="420624" cy="420624"/>
          </a:xfrm>
          <a:prstGeom prst="ellipse">
            <a:avLst/>
          </a:prstGeom>
          <a:solidFill>
            <a:srgbClr val="E39B2D"/>
          </a:solidFill>
          <a:ln>
            <a:solidFill>
              <a:srgbClr val="E39B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42232" y="3374136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confidence signal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639312" y="3977640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and out-of-distribution clips are silently misclassified.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81344" y="3154680"/>
            <a:ext cx="264261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9944" y="3383280"/>
            <a:ext cx="420624" cy="420624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58584" y="3374136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gap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3977640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Distributional gap between audio and visual embeddings makes principled fusion hard.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97696" y="3154680"/>
            <a:ext cx="264261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26296" y="3383280"/>
            <a:ext cx="420624" cy="420624"/>
          </a:xfrm>
          <a:prstGeom prst="ellipse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774936" y="3374136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generalisation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272016" y="3977640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collapses on unseen manipulations (face-swap, lip-sync, voice-clone, diffusion).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 </a:t>
            </a:r>
            <a:pPr algn="ctr" indent="0" marL="0">
              <a:buNone/>
            </a:pPr>
            <a:r>
              <a:rPr lang="en-US" sz="15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detector that is accurate, explains its verdict in both modalities, and knows when to defer to a human.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Target Applications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1206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9456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detector that fuses cross-modal evidence instead of combining streams naively.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every decision through joint audio-visual saliency (face regions + spectral bands).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confidence and route low-confidence clips to a human forensic reviewer rather than issuing a silent verdict.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detection trustworthy enough for newsrooms, platforms and courts.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97880" y="1463040"/>
            <a:ext cx="27432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737360"/>
            <a:ext cx="731520" cy="731520"/>
          </a:xfrm>
          <a:prstGeom prst="ellipse">
            <a:avLst/>
          </a:prstGeom>
          <a:solidFill>
            <a:srgbClr val="13233F"/>
          </a:solidFill>
          <a:ln w="12700">
            <a:solidFill>
              <a:srgbClr val="13233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92024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172200" y="2560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 &amp; fact-checking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desks at news organisations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814816" y="1463040"/>
            <a:ext cx="27432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089136" y="1737360"/>
            <a:ext cx="731520" cy="73152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016" y="192024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089136" y="2560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9089136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Social-media screening pipelines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897880" y="3858768"/>
            <a:ext cx="27432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72200" y="4133088"/>
            <a:ext cx="731520" cy="731520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315968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172200" y="49560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evidence authentication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172200" y="5504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Admissible, explainable forensic reports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814816" y="3858768"/>
            <a:ext cx="27432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089136" y="4133088"/>
            <a:ext cx="731520" cy="731520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016" y="4315968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089136" y="49560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Voice-fraud prevention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9089136" y="5504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and call-centre authentication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&amp; Secondary Objectives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3233F"/>
          </a:solidFill>
          <a:ln w="12700">
            <a:solidFill>
              <a:srgbClr val="1323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4630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3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 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Explainable and Uncertainty-Aware Audio-Visual Deepfake Detection Framework using Cross-Modal Attention Fusion.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2642616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788920"/>
            <a:ext cx="420624" cy="420624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91840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challenges of existing unimodal and multimodal deepfake detectors.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64992" y="2606040"/>
            <a:ext cx="2642616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47872" y="2788920"/>
            <a:ext cx="420624" cy="420624"/>
          </a:xfrm>
          <a:prstGeom prst="ellipse">
            <a:avLst/>
          </a:prstGeom>
          <a:solidFill>
            <a:srgbClr val="D94A4A"/>
          </a:solidFill>
          <a:ln>
            <a:solidFill>
              <a:srgbClr val="D9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3291840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unimodal baselines (video branch and audio branch) as reference points.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81344" y="2606040"/>
            <a:ext cx="2642616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64224" y="2788920"/>
            <a:ext cx="420624" cy="420624"/>
          </a:xfrm>
          <a:prstGeom prst="ellipse">
            <a:avLst/>
          </a:prstGeom>
          <a:solidFill>
            <a:srgbClr val="E39B2D"/>
          </a:solidFill>
          <a:ln>
            <a:solidFill>
              <a:srgbClr val="E39B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64224" y="3291840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dual-branch encoder: vision backbone for frames, SSL speech model for audio.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997696" y="2606040"/>
            <a:ext cx="2642616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80576" y="2788920"/>
            <a:ext cx="420624" cy="420624"/>
          </a:xfrm>
          <a:prstGeom prst="ellipse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80576" y="3291840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cross-modal multi-head attention fusion module.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359359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4617720"/>
            <a:ext cx="420624" cy="420624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120640"/>
            <a:ext cx="3227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Grad-CAM (visual) and SHAP (audio) explainability.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315968" y="4434840"/>
            <a:ext cx="359359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98848" y="4617720"/>
            <a:ext cx="420624" cy="420624"/>
          </a:xfrm>
          <a:prstGeom prst="ellipse">
            <a:avLst/>
          </a:prstGeom>
          <a:solidFill>
            <a:srgbClr val="D94A4A"/>
          </a:solidFill>
          <a:ln>
            <a:solidFill>
              <a:srgbClr val="D9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498848" y="5120640"/>
            <a:ext cx="3227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MC-Dropout / Evidential DL uncertainty module that flags low-confidence predictions.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083296" y="4434840"/>
            <a:ext cx="359359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66176" y="4617720"/>
            <a:ext cx="420624" cy="420624"/>
          </a:xfrm>
          <a:prstGeom prst="ellipse">
            <a:avLst/>
          </a:prstGeom>
          <a:solidFill>
            <a:srgbClr val="E39B2D"/>
          </a:solidFill>
          <a:ln>
            <a:solidFill>
              <a:srgbClr val="E39B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266176" y="5120640"/>
            <a:ext cx="3227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generalisation across multiple public benchmark datasets.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097280"/>
            <a:ext cx="5029200" cy="5029200"/>
          </a:xfrm>
          <a:prstGeom prst="ellipse">
            <a:avLst/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931920"/>
            <a:ext cx="3291840" cy="3291840"/>
          </a:xfrm>
          <a:prstGeom prst="ellipse">
            <a:avLst/>
          </a:prstGeom>
          <a:solidFill>
            <a:srgbClr val="17404F"/>
          </a:solidFill>
          <a:ln w="12700">
            <a:solidFill>
              <a:srgbClr val="1740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review of 30 peer-reviewed papers (2016–2026) on audio-visual fusion, explainable AI and uncertainty estimation.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Methodology &amp; Thematic Distribution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82496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strategy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8600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IEEE, ACM, Springer, ScienceDirect, NeurIPS / ICML / ICASSP, arXiv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2016–2026, prioritising 2023–2026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A-V fusion, cross-modal attention, XAI, MC Dropout, EDL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114800"/>
            <a:ext cx="420624" cy="420624"/>
          </a:xfrm>
          <a:prstGeom prst="ellipse">
            <a:avLst/>
          </a:prstGeom>
          <a:solidFill>
            <a:srgbClr val="D94A4A"/>
          </a:solidFill>
          <a:ln>
            <a:solidFill>
              <a:srgbClr val="D9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105656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criteria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70916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A-V fusion architectures, or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/ uncertainty methods for deep classifiers, or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a benchmark dataset used in this work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463040"/>
            <a:ext cx="5468112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15" name="Chart 0" descr=""/>
          <p:cNvGraphicFramePr/>
          <p:nvPr/>
        </p:nvGraphicFramePr>
        <p:xfrm>
          <a:off x="6355080" y="160020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6492240" y="48463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optimise fusion accuracy only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23% address explainability, 13% uncertainty — always for a single modality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paper combines all three pillars with A-V fusion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— Papers 1–6 of 30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731520"/>
            <a:ext cx="3227832" cy="365760"/>
          </a:xfrm>
          <a:prstGeom prst="roundRect">
            <a:avLst>
              <a:gd name="adj" fmla="val 25000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Audio-Visual Fusion Architectures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657600"/>
                <a:gridCol w="4050792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/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AVFF: Audio-Visual Feature Fusion for Video Deepfake Detection (CVPR 2024)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Two-stage self-supervised contrastive learning with complementary masking; 98.6% accuracy on FakeAVCeleb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explainability or confidence estimate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Contextual Cross-Modal Attention for A-V Deepfake Detection &amp; Localization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MMMS-BA jointly detects and temporally localises manipulated segments with contextual attention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weights not turned into human-readable explanations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 &amp; Within-Modality Regularization for A-V Deepfake Detection (ICASSP 2024)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Regularisation across and within modalities improves robustness of A-V fusion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Accuracy/robustness only; no explainability 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AVFakeNet: Dense Swin Transformer for A-V Deepfake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dense Swin Transformer backbone across audio and visual streams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Opaque decisions; no saliency or uncertainty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MIS-AVoiDD: Modality Invariant &amp; Specific Representation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modality-invariant and modality-specific embeddings before fusion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interpretability; no cross-family generalisation study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DF-TransFusion: Lip-Audio Cross-Attention &amp; Facial Self-Attention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Lip-audio cross-attention plus facial self-attention captures lip-sync inconsistency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confidence-calibrated verification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— Papers 7–12 of 30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731520"/>
            <a:ext cx="3227832" cy="365760"/>
          </a:xfrm>
          <a:prstGeom prst="roundRect">
            <a:avLst>
              <a:gd name="adj" fmla="val 25000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Architectures &amp; Early XAI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657600"/>
                <a:gridCol w="4050792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/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Modality-Agnostic Audio-Visual Deepfake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when either stream is missing or independently manipulated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explainability or uncertainty-based routing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Robust Approach to Multimodal Deepfake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Evaluates fusion detectors under compression, noise and cross-dataset shift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Interpretability and calibration not studied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MCL: Multimodal Contrastive Learning for Deepfake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Pulls real A-V pairs together and pushes fake pairs apart in embedding 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 not linked to interpretable regions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CMALDD-PTAF: Cross-Modal Adversarial Learning with Pre-Trained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Pre-trained A-V speech features with adversarial training for cross-domain 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compute; no explanation or review mechanism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KLASSify to Verify: SSL Audio + Handcrafted Visual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Handcrafted visual + SSL audio features with graph attention; 92.78% AUC on AV-Deepfake1M++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interpretability; no uncertainty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Deepfake Detection: Grad-CAM with CNN-RNN 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DenseNet-121 + BiGRU with Grad-CAM; 88.3% accuracy in real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Video-only; no audio saliency or confidence flag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— Papers 13–18 of 30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731520"/>
            <a:ext cx="3227832" cy="365760"/>
          </a:xfrm>
          <a:prstGeom prst="roundRect">
            <a:avLst>
              <a:gd name="adj" fmla="val 25000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Uncertainty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657600"/>
                <a:gridCol w="4050792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/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Deepfake Audio Detection &amp; Justification with Explainable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LIME, SHAP and Grad-CAM justify audio decisions via frequency-band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Audio-only; not extended to fused A-V decisions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Deepfake Detection Across Modalities: An Overview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of XAI techniques for image, video and audio detectors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only; no unified cross-modal 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XAI for Deepfake Detection: Grad-CAM Approach to Video Forensics (INCET 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EfficientNetB0 + LSTM with Grad-CAM heatmaps on manipulated facial regions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Video-only; no fusion or uncertainty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XPlainVerse: Million-Scale Benchmark for Explainable Deepfake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Deepfake samples paired with grounded MLLM-based explanations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content; no A-V fusion or uncertainty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Uncertainty-Aware Deepfake Detection via Multi-View Structural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Evidential DL with multi-view learning cuts calibration error by 28% on CDFv2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Visual-only; no fusion or joint explainability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and Posterior Networks: A Survey on Evidential Deep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Unifies single-pass evidential uncertainty vs Bayesian sampling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General-purpose; not applied to forensics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— Papers 19–24 of 30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731520"/>
            <a:ext cx="3227832" cy="365760"/>
          </a:xfrm>
          <a:prstGeom prst="roundRect">
            <a:avLst>
              <a:gd name="adj" fmla="val 25000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Uncertainty, Benchmarks &amp; Surveys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657600"/>
                <a:gridCol w="4050792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/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 as a Bayesian Approximation (ICML 2016)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Inference-time dropout approximates Bayesian posterior sampling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passes add latency; untested on multimodal forensics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Evidential Deep Learning to Quantify Classification Uncertainty (NeurIPS 2018)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 Dirichlet parameters for calibrated uncertainty in one forward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image classification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Enhanced Deepfake Detection &amp; Classification Using Vision Transformers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ViT: 92.76% accuracy, 0.97 AUC on deepfake images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Image-only; no temporal or audio cues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Deepfake-Eval-2024: Multi-Modal In-the-Wild Benchmark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SOTA detectors lose 45–50% AUC on in-the-wild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only; no method proposed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 Deepfake Detection: A Comprehensive Survey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Surveys passive detection across image, video, audio and multimodal settings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only; no implemented 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DeepFake Video Detection: Insights into Model Generalisation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generalisation of CNN, transformer and multimodal video detectors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Review-based; no new 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— Papers 25–30 of 30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731520"/>
            <a:ext cx="3227832" cy="365760"/>
          </a:xfrm>
          <a:prstGeom prst="roundRect">
            <a:avLst>
              <a:gd name="adj" fmla="val 25000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Audio Forensics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657600"/>
                <a:gridCol w="4050792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/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on Multimedia-Enabled Deepfake Detection: Tools &amp; Trends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tool survey incl. A-V fusion; flags explainability as an open problem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only; no validated 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FakeAVCeleb: A Novel Audio-Video Multimodal Deepfake Dataset (NeurIPS 2021)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Paired fake video + fake/real audio; standard A-V benchmark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diversity vs diffusion-era fakes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Deepfake Detection with Self-Supervised XLS-R and SLS (ACM MM 2024)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XLS-R SSL model with Sensitive Layer Selection classifier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Audio-only; no visual cues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Deepfake Detection with WavLM &amp; Multi-Fusion Attentive Classifier (ICASSP 2024)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WavLM representations with an attentive multi-fusion classifier head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Audio-only; no XAI or uncertainty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of Cloned Voices in Realistic Forensic Scenarios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Evaluates ASR and anti-spoofing countermeasures under forensic conditions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comparison only; no fused A-V classification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Cloning &amp; Deep Fake Audio Detection Using Deep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MFCC detectors and a commercial tool tested against voice-cloning attacks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generalisation failures; no solution proposed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Capability Matrix of Key Works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4233672"/>
                <a:gridCol w="1188720"/>
                <a:gridCol w="1188720"/>
                <a:gridCol w="1554480"/>
                <a:gridCol w="1463040"/>
                <a:gridCol w="14630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Cross-Modal Fusion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AVFF (CVPR 2024)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Contextual Cross-Modal Attention (MMMS-BA)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Cross/Within-Modality Regularization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AVFakeNet / DF-TransFusion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KLASSify to Verify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CNN-RNN + Grad-CAM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EfficientNetB0-LSTM + Grad-CAM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XAI (LIME / SHAP / Grad-CAM)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Multi-View Evidential Learning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Framework (this work)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Identified Research Gap &amp; Novel Contribution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D94A4A"/>
          </a:solidFill>
          <a:ln>
            <a:solidFill>
              <a:srgbClr val="D9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8249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research gap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86000"/>
            <a:ext cx="4937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fusion is rarely combined with dual (audio + visual) explainability.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work unites attention fusion, XAI and uncertainty in one pipeline.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generalisation is rarely evaluated alongside explainability.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9632" y="1463040"/>
            <a:ext cx="54406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8232" y="1691640"/>
            <a:ext cx="420624" cy="420624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76872" y="168249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contribution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2286000"/>
            <a:ext cx="4937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Dual-branch cross-attention fusion network for A-V deepfakes.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Grad-CAM + SHAP evidence for every verdict.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MC-Dropout / EDL uncertainty that routes doubtful clips to human review.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1091672" cy="1645920"/>
          </a:xfrm>
          <a:prstGeom prst="roundRect">
            <a:avLst>
              <a:gd name="adj" fmla="val 4444"/>
            </a:avLst>
          </a:prstGeom>
          <a:solidFill>
            <a:srgbClr val="13233F"/>
          </a:solidFill>
          <a:ln w="12700">
            <a:solidFill>
              <a:srgbClr val="1323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against the 30 surveyed papers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074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13 papers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5074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Unimodal only — 7 papers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5074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estimate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Unimodal only — 4 papers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5074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+ A-V fusion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3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→ this work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097280"/>
            <a:ext cx="5029200" cy="5029200"/>
          </a:xfrm>
          <a:prstGeom prst="ellipse">
            <a:avLst/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931920"/>
            <a:ext cx="3291840" cy="3291840"/>
          </a:xfrm>
          <a:prstGeom prst="ellipse">
            <a:avLst/>
          </a:prstGeom>
          <a:solidFill>
            <a:srgbClr val="17404F"/>
          </a:solidFill>
          <a:ln w="12700">
            <a:solidFill>
              <a:srgbClr val="1740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architecture, high- and low-level design, DFDs, use-case, ER and UML diagrams.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 SPECIFICATION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SRS — Functional &amp; Non-Functional Requirements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66160" cy="4709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8249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86000"/>
            <a:ext cx="3063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 video (audio + visual) and extract frame and waveform streams.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real/fake verdict with a confidence score.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Grad-CAM heatmap and SHAP audio saliency for every prediction.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predictions below a configurable threshold for review.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inference (hash, verdict, confidence, timestamp).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15968" y="1463040"/>
            <a:ext cx="3566160" cy="4709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44568" y="1691640"/>
            <a:ext cx="420624" cy="420624"/>
          </a:xfrm>
          <a:prstGeom prst="ellipse">
            <a:avLst/>
          </a:prstGeom>
          <a:solidFill>
            <a:srgbClr val="D94A4A"/>
          </a:solidFill>
          <a:ln>
            <a:solidFill>
              <a:srgbClr val="D9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93208" y="168249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286000"/>
            <a:ext cx="3063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at least on par with published SOTA on the FakeAVCeleb test split.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under 2 s per 10-second clip on a single GPU.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produced within the same inference request.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Modular: fusion, XAI and uncertainty independently swappable.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fixed seeds, versioned configs, logged runs.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74152" y="1463040"/>
            <a:ext cx="3566160" cy="4709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02752" y="1691640"/>
            <a:ext cx="420624" cy="420624"/>
          </a:xfrm>
          <a:prstGeom prst="ellipse">
            <a:avLst/>
          </a:prstGeom>
          <a:solidFill>
            <a:srgbClr val="E39B2D"/>
          </a:solidFill>
          <a:ln>
            <a:solidFill>
              <a:srgbClr val="E39B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851392" y="168249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assumptions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286000"/>
            <a:ext cx="3063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binary real/fake classification of short single-speaker clips.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live streaming detection, multi-speaker diarisation.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FakeAVCeleb, AV-Deepfake1M and DFD.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CUDA-enabled GPU for training and inference.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 SPECIFICATION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SRS — Hardware &amp; Software Requirements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023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CUDA-enabled GPU (≥ 16 GB VRAM recommended)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Multi-core x86-64 processor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GB minimum, 32 GB recommended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 with space for datasets, cached embeddings and checkpoints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workstation or Google Colab / cloud GPU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463040"/>
          <a:ext cx="5468112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286207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3.10, PyTorch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development &amp; training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torchvision, timm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 / ViT-B/16 visual encoders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torchaudio, Librosa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loading, resampling, Mel features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 Face Transformers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WavLM-Base+ / XLS-R audio encoders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OpenCV, facenet-pytorch (MTCNN)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extraction, face detection &amp; alignment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Captum / pytorch-grad-cam, SHAP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Grad-CAM and SHAP explanations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/ FastAPI, Docker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dashboard &amp; inference 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MLflow, Git / GitHub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 tracking &amp; version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System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297180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Video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(Audio + Visual)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40280" y="1920240"/>
            <a:ext cx="1600200" cy="822960"/>
          </a:xfrm>
          <a:prstGeom prst="roundRect">
            <a:avLst>
              <a:gd name="adj" fmla="val 6667"/>
            </a:avLst>
          </a:prstGeom>
          <a:solidFill>
            <a:srgbClr val="0E9F8E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Preprocessing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MTCNN · 25 fps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240280" y="4114800"/>
            <a:ext cx="1600200" cy="822960"/>
          </a:xfrm>
          <a:prstGeom prst="roundRect">
            <a:avLst>
              <a:gd name="adj" fmla="val 6667"/>
            </a:avLst>
          </a:prstGeom>
          <a:solidFill>
            <a:srgbClr val="0E9F8E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Preprocessing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 · log-Mel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60520" y="1920240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1F3A66"/>
          </a:solidFill>
          <a:ln w="12700">
            <a:solidFill>
              <a:srgbClr val="1F3A6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Encoder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 / ViT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160520" y="4114800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1F3A66"/>
          </a:solidFill>
          <a:ln w="12700">
            <a:solidFill>
              <a:srgbClr val="1F3A6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Encoder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WavLM / XLS-R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26480" y="2788920"/>
            <a:ext cx="1645920" cy="1280160"/>
          </a:xfrm>
          <a:prstGeom prst="roundRect">
            <a:avLst>
              <a:gd name="adj" fmla="val 4286"/>
            </a:avLst>
          </a:prstGeom>
          <a:solidFill>
            <a:srgbClr val="D94A4A"/>
          </a:solidFill>
          <a:ln w="12700">
            <a:solidFill>
              <a:srgbClr val="D94A4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Multi-Head Attention Fusion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92440" y="297180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Head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784080" y="1691640"/>
            <a:ext cx="1856232" cy="822960"/>
          </a:xfrm>
          <a:prstGeom prst="roundRect">
            <a:avLst>
              <a:gd name="adj" fmla="val 6667"/>
            </a:avLst>
          </a:prstGeom>
          <a:solidFill>
            <a:srgbClr val="E39B2D"/>
          </a:solidFill>
          <a:ln w="12700">
            <a:solidFill>
              <a:srgbClr val="E39B2D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+ SHAP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784080" y="3017520"/>
            <a:ext cx="1856232" cy="822960"/>
          </a:xfrm>
          <a:prstGeom prst="roundRect">
            <a:avLst>
              <a:gd name="adj" fmla="val 6667"/>
            </a:avLst>
          </a:prstGeom>
          <a:solidFill>
            <a:srgbClr val="E39B2D"/>
          </a:solidFill>
          <a:ln w="12700">
            <a:solidFill>
              <a:srgbClr val="E39B2D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MC-Dropout / EDL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784080" y="4160520"/>
            <a:ext cx="1856232" cy="822960"/>
          </a:xfrm>
          <a:prstGeom prst="roundRect">
            <a:avLst>
              <a:gd name="adj" fmla="val 6667"/>
            </a:avLst>
          </a:prstGeom>
          <a:solidFill>
            <a:srgbClr val="0E9F8E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+ Confidence + Evidence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875520" y="5230368"/>
            <a:ext cx="1691640" cy="100584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Conf. ≥ τ ?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98080" y="498348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E3F4F1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 &amp; log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98080" y="571500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D94A4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queue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 flipV="1">
            <a:off x="1920240" y="2331720"/>
            <a:ext cx="320040" cy="96012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1920240" y="3566160"/>
            <a:ext cx="320040" cy="96012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3840480" y="2331720"/>
            <a:ext cx="32004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3840480" y="4526280"/>
            <a:ext cx="32004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5806440" y="2331720"/>
            <a:ext cx="320040" cy="82296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 flipV="1">
            <a:off x="5806440" y="3703320"/>
            <a:ext cx="320040" cy="82296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7772400" y="3429000"/>
            <a:ext cx="32004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 flipV="1">
            <a:off x="9464040" y="2103120"/>
            <a:ext cx="320040" cy="114300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464040" y="3429000"/>
            <a:ext cx="32004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464040" y="3611880"/>
            <a:ext cx="320040" cy="96012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0716768" y="4983480"/>
            <a:ext cx="0" cy="246888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 flipH="1" flipV="1">
            <a:off x="9418320" y="5230368"/>
            <a:ext cx="457200" cy="502920"/>
          </a:xfrm>
          <a:prstGeom prst="line">
            <a:avLst/>
          </a:prstGeom>
          <a:noFill/>
          <a:ln w="19050">
            <a:solidFill>
              <a:srgbClr val="0E9F8E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 flipH="1">
            <a:off x="9418320" y="5733288"/>
            <a:ext cx="457200" cy="228600"/>
          </a:xfrm>
          <a:prstGeom prst="line">
            <a:avLst/>
          </a:prstGeom>
          <a:noFill/>
          <a:ln w="19050">
            <a:solidFill>
              <a:srgbClr val="D94A4A"/>
            </a:solidFill>
            <a:prstDash val="solid"/>
            <a:tailEnd type="triangle"/>
          </a:ln>
        </p:spPr>
      </p:sp>
      <p:sp>
        <p:nvSpPr>
          <p:cNvPr id="33" name="Text 30"/>
          <p:cNvSpPr txBox="1"/>
          <p:nvPr/>
        </p:nvSpPr>
        <p:spPr>
          <a:xfrm>
            <a:off x="9418320" y="5074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9418320" y="5943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224028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lane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2240280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lane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HLD — Module Breakdown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4261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1664208"/>
            <a:ext cx="420624" cy="420624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6642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402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raw video, demuxes audio/video, validates format.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64992" y="1463040"/>
            <a:ext cx="264261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1664208"/>
            <a:ext cx="420624" cy="420624"/>
          </a:xfrm>
          <a:prstGeom prst="ellipse">
            <a:avLst/>
          </a:prstGeom>
          <a:solidFill>
            <a:srgbClr val="D94A4A"/>
          </a:solidFill>
          <a:ln>
            <a:solidFill>
              <a:srgbClr val="D9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96512" y="16642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2402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crop &amp; frame sampling; resampling &amp; Mel extraction.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81344" y="1463040"/>
            <a:ext cx="264261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82512" y="1664208"/>
            <a:ext cx="420624" cy="420624"/>
          </a:xfrm>
          <a:prstGeom prst="ellipse">
            <a:avLst/>
          </a:prstGeom>
          <a:solidFill>
            <a:srgbClr val="E39B2D"/>
          </a:solidFill>
          <a:ln>
            <a:solidFill>
              <a:srgbClr val="E39B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912864" y="16642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22402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(CNN/ViT) and audio (WavLM/XLS-R) embeddings.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97696" y="1463040"/>
            <a:ext cx="264261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98864" y="1664208"/>
            <a:ext cx="420624" cy="420624"/>
          </a:xfrm>
          <a:prstGeom prst="ellipse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729216" y="16642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198864" y="22402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cross-modal multi-head attention.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264261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9808" y="3767328"/>
            <a:ext cx="420624" cy="420624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7673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4343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head → real/fake logits and softmax confidence.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64992" y="3566160"/>
            <a:ext cx="264261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566160" y="3767328"/>
            <a:ext cx="420624" cy="420624"/>
          </a:xfrm>
          <a:prstGeom prst="ellipse">
            <a:avLst/>
          </a:prstGeom>
          <a:solidFill>
            <a:srgbClr val="D94A4A"/>
          </a:solidFill>
          <a:ln>
            <a:solidFill>
              <a:srgbClr val="D9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096512" y="37673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566160" y="4343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(visual) + SHAP (audio) saliency.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81344" y="3566160"/>
            <a:ext cx="264261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82512" y="3767328"/>
            <a:ext cx="420624" cy="420624"/>
          </a:xfrm>
          <a:prstGeom prst="ellipse">
            <a:avLst/>
          </a:prstGeom>
          <a:solidFill>
            <a:srgbClr val="E39B2D"/>
          </a:solidFill>
          <a:ln>
            <a:solidFill>
              <a:srgbClr val="E39B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12864" y="37673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382512" y="4343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MC-Dropout / EDL predictive uncertainty per sample.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997696" y="3566160"/>
            <a:ext cx="264261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198864" y="3767328"/>
            <a:ext cx="420624" cy="420624"/>
          </a:xfrm>
          <a:prstGeom prst="ellipse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9729216" y="37673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/ API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9198864" y="4343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outputs; routes low-confidence cases to review.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571500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E7ECF4"/>
          </a:solidFill>
          <a:ln>
            <a:solidFill>
              <a:srgbClr val="E7EC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stack:  </a:t>
            </a:r>
            <a:pPr algn="ctr" indent="0" marL="0">
              <a:buNone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· PyTorch · torchaudio / torchvision · Hugging Face · OpenCV · Captum / SHAP · Streamlit / FastAPI · Docker · MLflow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LLD — Module-Level Design &amp; Algorithms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6245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/ Function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 / Detail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9F8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FaceExtractor.crop()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9F8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AudioResampler.run()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MTCNN face detection at 25 fps, 224×224 aligned crops; audio at 16 kHz, 80-bin log-Mel (25 ms / 10 ms)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Encoder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9F8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VisualEncoder.forward()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 / ViT-B/16, first 4 blocks frozen, 512-d per-frame tokens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Encoder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9F8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AudioEncoder.forward()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WavLM-Base+ / XLS-R with SLS layer selection, projected to 512-d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9F8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CrossAttentionFusion.forward()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8-head co-attention: Q = visual, K/V = audio and vice-versa; residual + LayerNorm + FFN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9F8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ClassifierHead.forward()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2-layer MLP + softmax → {real, fake}; focal loss for class imbalance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9F8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GradCAM.generate()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9F8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SHAPExplainer.run()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Grad-CAM on last visual conv/attention block; KernelSHAP over grouped Mel bands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9F8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MCDropout.predict()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9F8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EDL.dirichlet()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30 stochastic passes → mean, variance, entropy; or Dirichlet evidence head (single pass)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9F8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ReviewQueue.route()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 when confidence &lt; τ or uncertainty &gt; u_max; persist audit record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DFD — Level 0 (Context Diagram)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09160" y="2606040"/>
            <a:ext cx="2743200" cy="1920240"/>
          </a:xfrm>
          <a:prstGeom prst="ellipse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A-V Deepfake Detection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Forensic Analyst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54312" y="310896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Admin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1417320"/>
            <a:ext cx="3200400" cy="594360"/>
          </a:xfrm>
          <a:prstGeom prst="roundRect">
            <a:avLst>
              <a:gd name="adj" fmla="val 9231"/>
            </a:avLst>
          </a:prstGeom>
          <a:solidFill>
            <a:srgbClr val="E3F4F1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  Dataset Store (FakeAVCeleb / AV-Deepfake1M)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5257800"/>
            <a:ext cx="3200400" cy="594360"/>
          </a:xfrm>
          <a:prstGeom prst="roundRect">
            <a:avLst>
              <a:gd name="adj" fmla="val 9231"/>
            </a:avLst>
          </a:prstGeom>
          <a:solidFill>
            <a:srgbClr val="FBEAEA"/>
          </a:solidFill>
          <a:ln w="12700">
            <a:solidFill>
              <a:srgbClr val="D94A4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 Audit Log / Review Queue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4640" y="3337560"/>
            <a:ext cx="1965960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83464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video clip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flipH="1">
            <a:off x="2834640" y="3840480"/>
            <a:ext cx="1965960" cy="0"/>
          </a:xfrm>
          <a:prstGeom prst="line">
            <a:avLst/>
          </a:prstGeom>
          <a:noFill/>
          <a:ln w="19050">
            <a:solidFill>
              <a:srgbClr val="0E9F8E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743200" y="39136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+ explanation + confidence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2011680"/>
            <a:ext cx="0" cy="594360"/>
          </a:xfrm>
          <a:prstGeom prst="line">
            <a:avLst/>
          </a:prstGeom>
          <a:noFill/>
          <a:ln w="19050">
            <a:solidFill>
              <a:srgbClr val="0E9F8E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21792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evaluation samples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H="1">
            <a:off x="7452360" y="3566160"/>
            <a:ext cx="1901952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7589520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/ update threshold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4526280"/>
            <a:ext cx="0" cy="731520"/>
          </a:xfrm>
          <a:prstGeom prst="line">
            <a:avLst/>
          </a:prstGeom>
          <a:noFill/>
          <a:ln w="19050">
            <a:solidFill>
              <a:srgbClr val="D94A4A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21792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cases, logs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DFD — Level 1 (Process Decomposition)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2651760"/>
            <a:ext cx="1508760" cy="1508760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Input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0" y="3401568"/>
            <a:ext cx="384048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487168" y="2651760"/>
            <a:ext cx="1508760" cy="1508760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Audio &amp; Visual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95928" y="3401568"/>
            <a:ext cx="384048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379976" y="2651760"/>
            <a:ext cx="1508760" cy="1508760"/>
          </a:xfrm>
          <a:prstGeom prst="ellipse">
            <a:avLst/>
          </a:prstGeom>
          <a:solidFill>
            <a:srgbClr val="D94A4A"/>
          </a:solidFill>
          <a:ln>
            <a:solidFill>
              <a:srgbClr val="D94A4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Fusion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88736" y="3401568"/>
            <a:ext cx="384048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272784" y="2651760"/>
            <a:ext cx="1508760" cy="1508760"/>
          </a:xfrm>
          <a:prstGeom prst="ellipse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81544" y="3401568"/>
            <a:ext cx="384048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165592" y="2651760"/>
            <a:ext cx="1508760" cy="1508760"/>
          </a:xfrm>
          <a:prstGeom prst="ellipse">
            <a:avLst/>
          </a:prstGeom>
          <a:solidFill>
            <a:srgbClr val="E39B2D"/>
          </a:solidFill>
          <a:ln>
            <a:solidFill>
              <a:srgbClr val="E39B2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&amp; Estimate Uncertainty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74352" y="3401568"/>
            <a:ext cx="384048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058400" y="2651760"/>
            <a:ext cx="1508760" cy="1508760"/>
          </a:xfrm>
          <a:prstGeom prst="ellipse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Verdict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clip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1417320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E3F4F1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  Dataset Store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44168" y="1920240"/>
            <a:ext cx="0" cy="731520"/>
          </a:xfrm>
          <a:prstGeom prst="line">
            <a:avLst/>
          </a:prstGeom>
          <a:noFill/>
          <a:ln w="19050">
            <a:solidFill>
              <a:srgbClr val="0E9F8E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263640" y="5029200"/>
            <a:ext cx="3429000" cy="502920"/>
          </a:xfrm>
          <a:prstGeom prst="roundRect">
            <a:avLst>
              <a:gd name="adj" fmla="val 10909"/>
            </a:avLst>
          </a:prstGeom>
          <a:solidFill>
            <a:srgbClr val="E7ECF4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 Model / Threshold Store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flipV="1">
            <a:off x="6967728" y="4160520"/>
            <a:ext cx="0" cy="86868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10332720" y="4160520"/>
            <a:ext cx="457200" cy="1124712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92640" y="5285232"/>
            <a:ext cx="640080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0" y="141732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D94A4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 Audit Log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flipV="1">
            <a:off x="10762488" y="1920240"/>
            <a:ext cx="0" cy="731520"/>
          </a:xfrm>
          <a:prstGeom prst="line">
            <a:avLst/>
          </a:prstGeom>
          <a:noFill/>
          <a:ln w="19050">
            <a:solidFill>
              <a:srgbClr val="D94A4A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59436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threshold τ flow from D2; every routed decision is persisted to D1.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 — Actors &amp; Interactions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017520" y="1417320"/>
            <a:ext cx="617220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5875">
            <a:solidFill>
              <a:srgbClr val="1323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17520" y="146304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Detection 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46120" y="1874520"/>
            <a:ext cx="2697480" cy="822960"/>
          </a:xfrm>
          <a:prstGeom prst="ellipse">
            <a:avLst/>
          </a:prstGeom>
          <a:solidFill>
            <a:srgbClr val="E3F4F1"/>
          </a:solidFill>
          <a:ln w="12700">
            <a:solidFill>
              <a:srgbClr val="0E9F8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Media File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46120" y="2926080"/>
            <a:ext cx="2697480" cy="822960"/>
          </a:xfrm>
          <a:prstGeom prst="ellipse">
            <a:avLst/>
          </a:prstGeom>
          <a:solidFill>
            <a:srgbClr val="E3F4F1"/>
          </a:solidFill>
          <a:ln w="12700">
            <a:solidFill>
              <a:srgbClr val="0E9F8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Verdict &amp; Confidence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46120" y="3977640"/>
            <a:ext cx="2697480" cy="822960"/>
          </a:xfrm>
          <a:prstGeom prst="ellipse">
            <a:avLst/>
          </a:prstGeom>
          <a:solidFill>
            <a:srgbClr val="E3F4F1"/>
          </a:solidFill>
          <a:ln w="12700">
            <a:solidFill>
              <a:srgbClr val="0E9F8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Explanation (Heatmap / Saliency)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5029200"/>
            <a:ext cx="2697480" cy="822960"/>
          </a:xfrm>
          <a:prstGeom prst="ellipse">
            <a:avLst/>
          </a:prstGeom>
          <a:solidFill>
            <a:srgbClr val="E3F4F1"/>
          </a:solidFill>
          <a:ln w="12700">
            <a:solidFill>
              <a:srgbClr val="0E9F8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 Manual Review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1874520"/>
            <a:ext cx="2697480" cy="822960"/>
          </a:xfrm>
          <a:prstGeom prst="ellipse">
            <a:avLst/>
          </a:prstGeom>
          <a:solidFill>
            <a:srgbClr val="E3F4F1"/>
          </a:solidFill>
          <a:ln w="12700">
            <a:solidFill>
              <a:srgbClr val="0E9F8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/ Update 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2926080"/>
            <a:ext cx="2697480" cy="822960"/>
          </a:xfrm>
          <a:prstGeom prst="ellipse">
            <a:avLst/>
          </a:prstGeom>
          <a:solidFill>
            <a:srgbClr val="E3F4F1"/>
          </a:solidFill>
          <a:ln w="12700">
            <a:solidFill>
              <a:srgbClr val="0E9F8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Confidence Threshold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3977640"/>
            <a:ext cx="2697480" cy="822960"/>
          </a:xfrm>
          <a:prstGeom prst="ellipse">
            <a:avLst/>
          </a:prstGeom>
          <a:solidFill>
            <a:srgbClr val="E3F4F1"/>
          </a:solidFill>
          <a:ln w="12700">
            <a:solidFill>
              <a:srgbClr val="0E9F8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Flagged Cases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5029200"/>
            <a:ext cx="2697480" cy="822960"/>
          </a:xfrm>
          <a:prstGeom prst="ellipse">
            <a:avLst/>
          </a:prstGeom>
          <a:solidFill>
            <a:srgbClr val="E3F4F1"/>
          </a:solidFill>
          <a:ln w="12700">
            <a:solidFill>
              <a:srgbClr val="0E9F8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Audit Report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3108960"/>
            <a:ext cx="777240" cy="777240"/>
          </a:xfrm>
          <a:prstGeom prst="ellipse">
            <a:avLst/>
          </a:prstGeom>
          <a:solidFill>
            <a:srgbClr val="13233F"/>
          </a:solidFill>
          <a:ln w="12700">
            <a:solidFill>
              <a:srgbClr val="13233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150" y="3303270"/>
            <a:ext cx="388620" cy="38862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48640" y="3931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/ User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0287000" y="2148840"/>
            <a:ext cx="777240" cy="77724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1310" y="2343150"/>
            <a:ext cx="388620" cy="3886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9829800" y="2971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Admin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10287000" y="4389120"/>
            <a:ext cx="777240" cy="777240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1310" y="4583430"/>
            <a:ext cx="388620" cy="3886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9829800" y="5212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 flipV="1">
            <a:off x="1783080" y="2286000"/>
            <a:ext cx="1463040" cy="1207008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 flipV="1">
            <a:off x="1783080" y="3337560"/>
            <a:ext cx="1463040" cy="155448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783080" y="3493008"/>
            <a:ext cx="1463040" cy="896112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783080" y="3493008"/>
            <a:ext cx="1463040" cy="1947672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 flipH="1" flipV="1">
            <a:off x="8961120" y="2286000"/>
            <a:ext cx="1325880" cy="246888"/>
          </a:xfrm>
          <a:prstGeom prst="line">
            <a:avLst/>
          </a:prstGeom>
          <a:noFill/>
          <a:ln w="19050">
            <a:solidFill>
              <a:srgbClr val="0E9F8E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 flipH="1">
            <a:off x="8961120" y="2532888"/>
            <a:ext cx="1325880" cy="804672"/>
          </a:xfrm>
          <a:prstGeom prst="line">
            <a:avLst/>
          </a:prstGeom>
          <a:noFill/>
          <a:ln w="19050">
            <a:solidFill>
              <a:srgbClr val="0E9F8E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 flipH="1" flipV="1">
            <a:off x="8961120" y="4389120"/>
            <a:ext cx="1325880" cy="384048"/>
          </a:xfrm>
          <a:prstGeom prst="line">
            <a:avLst/>
          </a:prstGeom>
          <a:noFill/>
          <a:ln w="19050">
            <a:solidFill>
              <a:srgbClr val="D94A4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 flipH="1">
            <a:off x="8961120" y="4773168"/>
            <a:ext cx="1325880" cy="667512"/>
          </a:xfrm>
          <a:prstGeom prst="line">
            <a:avLst/>
          </a:prstGeom>
          <a:noFill/>
          <a:ln w="19050">
            <a:solidFill>
              <a:srgbClr val="D94A4A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— Database Schema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240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323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63040"/>
            <a:ext cx="2240280" cy="384048"/>
          </a:xfrm>
          <a:prstGeom prst="rect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92808"/>
            <a:ext cx="2011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dataset_id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num_samples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manipulation_type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1463040"/>
            <a:ext cx="2240280" cy="1709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323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463040"/>
            <a:ext cx="2240280" cy="384048"/>
          </a:xfrm>
          <a:prstGeom prst="rect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Media_Sample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1892808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sample_id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dataset_id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file_path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(real / fake)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duration_sec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1463040"/>
            <a:ext cx="224028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1323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463040"/>
            <a:ext cx="2240280" cy="384048"/>
          </a:xfrm>
          <a:prstGeom prst="rect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Inference_Result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1892808"/>
            <a:ext cx="20116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result_id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sample_id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model_id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confidence_score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uncertainty_score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00032" y="1463040"/>
            <a:ext cx="2240280" cy="1709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323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400032" y="1463040"/>
            <a:ext cx="2240280" cy="384048"/>
          </a:xfrm>
          <a:prstGeom prst="rect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Model_Version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537192" y="1892808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model_id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arch_name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trained_on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metrics_json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20440" y="4114800"/>
            <a:ext cx="2240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323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20440" y="4114800"/>
            <a:ext cx="2240280" cy="384048"/>
          </a:xfrm>
          <a:prstGeom prst="rect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4544568"/>
            <a:ext cx="2011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user_id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(analyst / admin)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4114800"/>
            <a:ext cx="2240280" cy="1709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323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4114800"/>
            <a:ext cx="2240280" cy="384048"/>
          </a:xfrm>
          <a:prstGeom prst="rect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Review_Queue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4544568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review_id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result_id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reviewer_id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reviewed_at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00032" y="4114800"/>
            <a:ext cx="2240280" cy="1709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323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400032" y="4114800"/>
            <a:ext cx="2240280" cy="384048"/>
          </a:xfrm>
          <a:prstGeom prst="rect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537192" y="4544568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explain_id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result_id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gradcam_path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shap_path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88920" y="2103120"/>
            <a:ext cx="73152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743200" y="1828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760720" y="2103120"/>
            <a:ext cx="73152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715000" y="1828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 flipH="1">
            <a:off x="8732520" y="2103120"/>
            <a:ext cx="667512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50224" y="1828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607808" y="3246120"/>
            <a:ext cx="0" cy="86868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35204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760720" y="4754880"/>
            <a:ext cx="73152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715000" y="44805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732520" y="2926080"/>
            <a:ext cx="667512" cy="155448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915400" y="34290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— Class Diagram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14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323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63040"/>
            <a:ext cx="2514600" cy="384048"/>
          </a:xfrm>
          <a:prstGeom prst="rect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MediaSample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89280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path: str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label: str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duration: float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2514600" cy="0"/>
          </a:xfrm>
          <a:prstGeom prst="line">
            <a:avLst/>
          </a:prstGeom>
          <a:noFill/>
          <a:ln w="12700">
            <a:solidFill>
              <a:srgbClr val="DCE2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load()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extract_streams()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10712" y="1463040"/>
            <a:ext cx="2514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323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10712" y="1463040"/>
            <a:ext cx="2514600" cy="384048"/>
          </a:xfrm>
          <a:prstGeom prst="rect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89280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fps: int = 25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sr: int = 16000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10712" y="2633472"/>
            <a:ext cx="2514600" cy="0"/>
          </a:xfrm>
          <a:prstGeom prst="line">
            <a:avLst/>
          </a:prstGeom>
          <a:noFill/>
          <a:ln w="12700">
            <a:solidFill>
              <a:srgbClr val="DCE2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2044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crop_face()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to_melspec()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72784" y="1463040"/>
            <a:ext cx="2514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323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72784" y="1463040"/>
            <a:ext cx="2514600" cy="384048"/>
          </a:xfrm>
          <a:prstGeom prst="rect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FusionEncoder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189280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visual_enc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audio_enc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heads: int = 8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72784" y="2633472"/>
            <a:ext cx="2514600" cy="0"/>
          </a:xfrm>
          <a:prstGeom prst="line">
            <a:avLst/>
          </a:prstGeom>
          <a:noFill/>
          <a:ln w="12700">
            <a:solidFill>
              <a:srgbClr val="DCE2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82512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encode()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cross_attend()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25712" y="1463040"/>
            <a:ext cx="2514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323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25712" y="1463040"/>
            <a:ext cx="2514600" cy="384048"/>
          </a:xfrm>
          <a:prstGeom prst="rect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DeepfakeClassifier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189280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threshold: float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dropout: float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25712" y="2633472"/>
            <a:ext cx="2514600" cy="0"/>
          </a:xfrm>
          <a:prstGeom prst="line">
            <a:avLst/>
          </a:prstGeom>
          <a:noFill/>
          <a:ln w="12700">
            <a:solidFill>
              <a:srgbClr val="DCE2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3544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predict()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confidence()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10712" y="4206240"/>
            <a:ext cx="2514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323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10712" y="4206240"/>
            <a:ext cx="2514600" cy="384048"/>
          </a:xfrm>
          <a:prstGeom prst="rect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ExplainabilityEngine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520440" y="463600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method: str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10712" y="5376672"/>
            <a:ext cx="2514600" cy="0"/>
          </a:xfrm>
          <a:prstGeom prst="line">
            <a:avLst/>
          </a:prstGeom>
          <a:noFill/>
          <a:ln w="12700">
            <a:solidFill>
              <a:srgbClr val="DCE2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20440" y="5440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grad_cam()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shap_explain()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72784" y="4206240"/>
            <a:ext cx="2514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323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72784" y="4206240"/>
            <a:ext cx="2514600" cy="384048"/>
          </a:xfrm>
          <a:prstGeom prst="rect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UncertaintyEstimator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382512" y="463600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passes: int = 30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72784" y="5376672"/>
            <a:ext cx="2514600" cy="0"/>
          </a:xfrm>
          <a:prstGeom prst="line">
            <a:avLst/>
          </a:prstGeom>
          <a:noFill/>
          <a:ln w="12700">
            <a:solidFill>
              <a:srgbClr val="DCE2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82512" y="5440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mc_dropout()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evidential()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125712" y="4206240"/>
            <a:ext cx="2514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323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125712" y="4206240"/>
            <a:ext cx="2514600" cy="384048"/>
          </a:xfrm>
          <a:prstGeom prst="rect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ReviewQueueManager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235440" y="463600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status: str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125712" y="5376672"/>
            <a:ext cx="2514600" cy="0"/>
          </a:xfrm>
          <a:prstGeom prst="line">
            <a:avLst/>
          </a:prstGeom>
          <a:noFill/>
          <a:ln w="12700">
            <a:solidFill>
              <a:srgbClr val="DCE2E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235440" y="5440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flag_case()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resolve()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063240" y="2423160"/>
            <a:ext cx="347472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925312" y="2423160"/>
            <a:ext cx="347472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787384" y="2423160"/>
            <a:ext cx="338328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378440" y="3383280"/>
            <a:ext cx="0" cy="822960"/>
          </a:xfrm>
          <a:prstGeom prst="line">
            <a:avLst/>
          </a:prstGeom>
          <a:noFill/>
          <a:ln w="19050">
            <a:solidFill>
              <a:srgbClr val="13233F"/>
            </a:solidFill>
            <a:prstDash val="dash"/>
            <a:tailEnd type="triangle"/>
          </a:ln>
        </p:spPr>
      </p:sp>
      <p:sp>
        <p:nvSpPr>
          <p:cNvPr id="45" name="Shape 43"/>
          <p:cNvSpPr/>
          <p:nvPr/>
        </p:nvSpPr>
        <p:spPr>
          <a:xfrm flipH="1">
            <a:off x="7863840" y="3383280"/>
            <a:ext cx="1737360" cy="822960"/>
          </a:xfrm>
          <a:prstGeom prst="line">
            <a:avLst/>
          </a:prstGeom>
          <a:noFill/>
          <a:ln w="19050">
            <a:solidFill>
              <a:srgbClr val="13233F"/>
            </a:solidFill>
            <a:prstDash val="dash"/>
            <a:tailEnd type="triangle"/>
          </a:ln>
        </p:spPr>
      </p:sp>
      <p:sp>
        <p:nvSpPr>
          <p:cNvPr id="46" name="Shape 44"/>
          <p:cNvSpPr/>
          <p:nvPr/>
        </p:nvSpPr>
        <p:spPr>
          <a:xfrm flipH="1">
            <a:off x="4846320" y="3383280"/>
            <a:ext cx="2103120" cy="822960"/>
          </a:xfrm>
          <a:prstGeom prst="line">
            <a:avLst/>
          </a:prstGeom>
          <a:noFill/>
          <a:ln w="19050">
            <a:solidFill>
              <a:srgbClr val="13233F"/>
            </a:solidFill>
            <a:prstDash val="dash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48640" y="420624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E7ECF4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731520" y="43434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association / data flow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⇢  «uses» dependency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private attribute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public method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— Sequence Diagram (Inference Flow)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0E9F8E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280160" y="1920240"/>
            <a:ext cx="0" cy="4297680"/>
          </a:xfrm>
          <a:prstGeom prst="line">
            <a:avLst/>
          </a:prstGeom>
          <a:noFill/>
          <a:ln w="12700">
            <a:solidFill>
              <a:srgbClr val="A9B4C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377440" y="14173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0" y="1920240"/>
            <a:ext cx="0" cy="4297680"/>
          </a:xfrm>
          <a:prstGeom prst="line">
            <a:avLst/>
          </a:prstGeom>
          <a:noFill/>
          <a:ln w="12700">
            <a:solidFill>
              <a:srgbClr val="A9B4C4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297680" y="14173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120640" y="1920240"/>
            <a:ext cx="0" cy="4297680"/>
          </a:xfrm>
          <a:prstGeom prst="line">
            <a:avLst/>
          </a:prstGeom>
          <a:noFill/>
          <a:ln w="12700">
            <a:solidFill>
              <a:srgbClr val="A9B4C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217920" y="14173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FusionModel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040880" y="1920240"/>
            <a:ext cx="0" cy="4297680"/>
          </a:xfrm>
          <a:prstGeom prst="line">
            <a:avLst/>
          </a:prstGeom>
          <a:noFill/>
          <a:ln w="12700">
            <a:solidFill>
              <a:srgbClr val="A9B4C4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138160" y="14173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+ Uncertainty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61120" y="1920240"/>
            <a:ext cx="0" cy="4297680"/>
          </a:xfrm>
          <a:prstGeom prst="line">
            <a:avLst/>
          </a:prstGeom>
          <a:noFill/>
          <a:ln w="12700">
            <a:solidFill>
              <a:srgbClr val="A9B4C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0058400" y="14173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ReviewQueue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881360" y="1920240"/>
            <a:ext cx="0" cy="4297680"/>
          </a:xfrm>
          <a:prstGeom prst="line">
            <a:avLst/>
          </a:prstGeom>
          <a:noFill/>
          <a:ln w="12700">
            <a:solidFill>
              <a:srgbClr val="A9B4C4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280160" y="2377440"/>
            <a:ext cx="1920240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1280160" y="21214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upload(video)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852928"/>
            <a:ext cx="1920240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200400" y="25968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preprocess()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H="1">
            <a:off x="3200400" y="3328416"/>
            <a:ext cx="1920240" cy="0"/>
          </a:xfrm>
          <a:prstGeom prst="line">
            <a:avLst/>
          </a:prstGeom>
          <a:noFill/>
          <a:ln w="19050">
            <a:solidFill>
              <a:srgbClr val="0E9F8E"/>
            </a:solidFill>
            <a:prstDash val="dash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200400" y="30723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+ log-Mel ready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3803904"/>
            <a:ext cx="3840480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3200400" y="35478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fuse_and_classify()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40880" y="4279392"/>
            <a:ext cx="1920240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7040880" y="40233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explain() / estimate_uncertainty()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flipH="1">
            <a:off x="3200400" y="4754880"/>
            <a:ext cx="5760720" cy="0"/>
          </a:xfrm>
          <a:prstGeom prst="line">
            <a:avLst/>
          </a:prstGeom>
          <a:noFill/>
          <a:ln w="19050">
            <a:solidFill>
              <a:srgbClr val="0E9F8E"/>
            </a:solidFill>
            <a:prstDash val="dash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3200400" y="4498848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 maps + confidence + uncertainty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5230368"/>
            <a:ext cx="7680960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3200400" y="49743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confidence &lt; τ : enqueue()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 flipH="1">
            <a:off x="1280160" y="5705856"/>
            <a:ext cx="1920240" cy="0"/>
          </a:xfrm>
          <a:prstGeom prst="line">
            <a:avLst/>
          </a:prstGeom>
          <a:noFill/>
          <a:ln w="19050">
            <a:solidFill>
              <a:srgbClr val="0E9F8E"/>
            </a:solidFill>
            <a:prstDash val="dash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1280160" y="54498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verdict, confidence, explanation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— Activity Diagram (End-to-End Pipeline)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2103120"/>
            <a:ext cx="457200" cy="457200"/>
          </a:xfrm>
          <a:prstGeom prst="ellipse">
            <a:avLst/>
          </a:prstGeom>
          <a:solidFill>
            <a:srgbClr val="13233F"/>
          </a:solidFill>
          <a:ln w="12700">
            <a:solidFill>
              <a:srgbClr val="1323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2606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192024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audio-visual clip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86200" y="192024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0E9F8E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&amp; encode (A + V)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192024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D94A4A"/>
          </a:solidFill>
          <a:ln w="12700">
            <a:solidFill>
              <a:srgbClr val="D94A4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attention fusion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23960" y="192024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real / fake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51560" y="2331720"/>
            <a:ext cx="36576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20440" y="2331720"/>
            <a:ext cx="36576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9320" y="2331720"/>
            <a:ext cx="36576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458200" y="2331720"/>
            <a:ext cx="36576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823960" y="342900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E39B2D"/>
          </a:solidFill>
          <a:ln w="12700">
            <a:solidFill>
              <a:srgbClr val="E39B2D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Grad-CAM + SHAP &amp; estimate uncertainty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0" y="2743200"/>
            <a:ext cx="0" cy="68580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355080" y="3291840"/>
            <a:ext cx="2103120" cy="11430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≥ τ 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flipH="1">
            <a:off x="8458200" y="3858768"/>
            <a:ext cx="36576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886200" y="342900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E3F4F1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verdict + evidence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 flipH="1">
            <a:off x="5989320" y="3858768"/>
            <a:ext cx="365760" cy="0"/>
          </a:xfrm>
          <a:prstGeom prst="line">
            <a:avLst/>
          </a:prstGeom>
          <a:noFill/>
          <a:ln w="19050">
            <a:solidFill>
              <a:srgbClr val="0E9F8E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943600" y="35204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502920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FBEAEA"/>
          </a:solidFill>
          <a:ln w="12700">
            <a:solidFill>
              <a:srgbClr val="D94A4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human review queue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06640" y="4434840"/>
            <a:ext cx="0" cy="594360"/>
          </a:xfrm>
          <a:prstGeom prst="line">
            <a:avLst/>
          </a:prstGeom>
          <a:noFill/>
          <a:ln w="19050">
            <a:solidFill>
              <a:srgbClr val="D94A4A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7498080" y="4617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86200" y="502920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confirms or overrides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 flipH="1">
            <a:off x="5989320" y="5458968"/>
            <a:ext cx="36576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148840" y="434340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33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58568" y="4453128"/>
            <a:ext cx="329184" cy="329184"/>
          </a:xfrm>
          <a:prstGeom prst="ellipse">
            <a:avLst/>
          </a:prstGeom>
          <a:solidFill>
            <a:srgbClr val="13233F"/>
          </a:solidFill>
          <a:ln w="12700">
            <a:solidFill>
              <a:srgbClr val="13233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965960" y="4937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 flipH="1">
            <a:off x="2697480" y="3858768"/>
            <a:ext cx="1188720" cy="667512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H="1" flipV="1">
            <a:off x="2697480" y="4709160"/>
            <a:ext cx="1188720" cy="749808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path writes an audit record (input hash, verdict, confidence, uncertainty, model version, timestamp).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097280"/>
            <a:ext cx="5029200" cy="5029200"/>
          </a:xfrm>
          <a:prstGeom prst="ellipse">
            <a:avLst/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931920"/>
            <a:ext cx="3291840" cy="3291840"/>
          </a:xfrm>
          <a:prstGeom prst="ellipse">
            <a:avLst/>
          </a:prstGeom>
          <a:solidFill>
            <a:srgbClr val="17404F"/>
          </a:solidFill>
          <a:ln w="12700">
            <a:solidFill>
              <a:srgbClr val="1740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Implementation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preprocessing, encoders, cross-modal fusion, explainability, uncertainty and the working prototype.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— FakeAVCeleb &amp; Cross-Dataset Benchmarks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126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38912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FakeAVCeleb — audio-visual multimodal deepfakes (NeurIPS 2021)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~20,000 clips with paired audio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Manipulations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FaceSwap, FSGAN, Wav2Lip lip-sync, SV2TTS voice cloning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classification: real vs fake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train / 15% validation / 15% test, subject-disjoint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Real/real clips are a small minority → focal loss + balanced sampling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AV-Deepfake1M and DFD for generalisation 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949440" y="1463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A-V categories in FakeAVCeleb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949440" y="1874520"/>
            <a:ext cx="2267712" cy="2011680"/>
          </a:xfrm>
          <a:prstGeom prst="roundRect">
            <a:avLst>
              <a:gd name="adj" fmla="val 3636"/>
            </a:avLst>
          </a:prstGeom>
          <a:solidFill>
            <a:srgbClr val="E3F4F1"/>
          </a:solidFill>
          <a:ln w="15875">
            <a:solidFill>
              <a:srgbClr val="0E9F8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0" y="210312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RV – RA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7040880" y="26974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video · Real audio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626096" y="3291840"/>
            <a:ext cx="914400" cy="347472"/>
          </a:xfrm>
          <a:prstGeom prst="roundRect">
            <a:avLst>
              <a:gd name="adj" fmla="val 26316"/>
            </a:avLst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9345168" y="1874520"/>
            <a:ext cx="2267712" cy="2011680"/>
          </a:xfrm>
          <a:prstGeom prst="roundRect">
            <a:avLst>
              <a:gd name="adj" fmla="val 3636"/>
            </a:avLst>
          </a:prstGeom>
          <a:solidFill>
            <a:srgbClr val="FBEAEA"/>
          </a:solidFill>
          <a:ln w="15875">
            <a:solidFill>
              <a:srgbClr val="D94A4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345168" y="210312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FV – RA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9436608" y="26974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video · Real audio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0021824" y="3291840"/>
            <a:ext cx="914400" cy="347472"/>
          </a:xfrm>
          <a:prstGeom prst="roundRect">
            <a:avLst>
              <a:gd name="adj" fmla="val 26316"/>
            </a:avLst>
          </a:prstGeom>
          <a:solidFill>
            <a:srgbClr val="D94A4A"/>
          </a:solidFill>
          <a:ln>
            <a:solidFill>
              <a:srgbClr val="D9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949440" y="4023360"/>
            <a:ext cx="2267712" cy="2011680"/>
          </a:xfrm>
          <a:prstGeom prst="roundRect">
            <a:avLst>
              <a:gd name="adj" fmla="val 3636"/>
            </a:avLst>
          </a:prstGeom>
          <a:solidFill>
            <a:srgbClr val="FBEAEA"/>
          </a:solidFill>
          <a:ln w="15875">
            <a:solidFill>
              <a:srgbClr val="D94A4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949440" y="425196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RV – FA</a:t>
            </a:r>
            <a:endParaRPr lang="en-US" sz="2400" dirty="0"/>
          </a:p>
        </p:txBody>
      </p:sp>
      <p:sp>
        <p:nvSpPr>
          <p:cNvPr id="19" name="Text 15"/>
          <p:cNvSpPr txBox="1"/>
          <p:nvPr/>
        </p:nvSpPr>
        <p:spPr>
          <a:xfrm>
            <a:off x="7040880" y="48463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video · Fake audio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626096" y="5440680"/>
            <a:ext cx="914400" cy="347472"/>
          </a:xfrm>
          <a:prstGeom prst="roundRect">
            <a:avLst>
              <a:gd name="adj" fmla="val 26316"/>
            </a:avLst>
          </a:prstGeom>
          <a:solidFill>
            <a:srgbClr val="D94A4A"/>
          </a:solidFill>
          <a:ln>
            <a:solidFill>
              <a:srgbClr val="D9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9345168" y="4023360"/>
            <a:ext cx="2267712" cy="2011680"/>
          </a:xfrm>
          <a:prstGeom prst="roundRect">
            <a:avLst>
              <a:gd name="adj" fmla="val 3636"/>
            </a:avLst>
          </a:prstGeom>
          <a:solidFill>
            <a:srgbClr val="FBEAEA"/>
          </a:solidFill>
          <a:ln w="15875">
            <a:solidFill>
              <a:srgbClr val="D94A4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9345168" y="425196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FV – FA</a:t>
            </a:r>
            <a:endParaRPr lang="en-US" sz="2400" dirty="0"/>
          </a:p>
        </p:txBody>
      </p:sp>
      <p:sp>
        <p:nvSpPr>
          <p:cNvPr id="23" name="Text 19"/>
          <p:cNvSpPr txBox="1"/>
          <p:nvPr/>
        </p:nvSpPr>
        <p:spPr>
          <a:xfrm>
            <a:off x="9436608" y="48463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video · Fake audio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0021824" y="5440680"/>
            <a:ext cx="914400" cy="347472"/>
          </a:xfrm>
          <a:prstGeom prst="roundRect">
            <a:avLst>
              <a:gd name="adj" fmla="val 26316"/>
            </a:avLst>
          </a:prstGeom>
          <a:solidFill>
            <a:srgbClr val="D94A4A"/>
          </a:solidFill>
          <a:ln>
            <a:solidFill>
              <a:srgbClr val="D9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Pipeline — Visual &amp; Audio Lanes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731520" cy="731520"/>
          </a:xfrm>
          <a:prstGeom prst="ellipse">
            <a:avLst/>
          </a:prstGeom>
          <a:solidFill>
            <a:srgbClr val="13233F"/>
          </a:solidFill>
          <a:ln w="12700">
            <a:solidFill>
              <a:srgbClr val="13233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7432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783080" y="1600200"/>
            <a:ext cx="1737360" cy="1097280"/>
          </a:xfrm>
          <a:prstGeom prst="roundRect">
            <a:avLst>
              <a:gd name="adj" fmla="val 5000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Demux &amp; validate video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520440" y="2148840"/>
            <a:ext cx="274320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3794760" y="1600200"/>
            <a:ext cx="1737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MTCNN face detection @ 25 fps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532120" y="2148840"/>
            <a:ext cx="274320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5806440" y="1600200"/>
            <a:ext cx="1737360" cy="1097280"/>
          </a:xfrm>
          <a:prstGeom prst="roundRect">
            <a:avLst>
              <a:gd name="adj" fmla="val 5000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&amp; crop to 224×224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543800" y="2148840"/>
            <a:ext cx="274320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7818120" y="1600200"/>
            <a:ext cx="1737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32-frame sampling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555480" y="2148840"/>
            <a:ext cx="274320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9829800" y="1600200"/>
            <a:ext cx="1737360" cy="1097280"/>
          </a:xfrm>
          <a:prstGeom prst="roundRect">
            <a:avLst>
              <a:gd name="adj" fmla="val 5000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(ImageNet stats)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3520440"/>
            <a:ext cx="731520" cy="73152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0332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27432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783080" y="3337560"/>
            <a:ext cx="1737360" cy="1097280"/>
          </a:xfrm>
          <a:prstGeom prst="roundRect">
            <a:avLst>
              <a:gd name="adj" fmla="val 5000"/>
            </a:avLst>
          </a:prstGeom>
          <a:solidFill>
            <a:srgbClr val="0E9F8E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audio track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3520440" y="3886200"/>
            <a:ext cx="274320" cy="0"/>
          </a:xfrm>
          <a:prstGeom prst="line">
            <a:avLst/>
          </a:prstGeom>
          <a:noFill/>
          <a:ln w="19050">
            <a:solidFill>
              <a:srgbClr val="0E9F8E"/>
            </a:solidFill>
            <a:prstDash val="solid"/>
            <a:tailEnd type="triangle"/>
          </a:ln>
        </p:spPr>
      </p:sp>
      <p:sp>
        <p:nvSpPr>
          <p:cNvPr id="23" name="Text 19"/>
          <p:cNvSpPr/>
          <p:nvPr/>
        </p:nvSpPr>
        <p:spPr>
          <a:xfrm>
            <a:off x="3794760" y="3337560"/>
            <a:ext cx="1737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to 16 kHz mono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532120" y="3886200"/>
            <a:ext cx="274320" cy="0"/>
          </a:xfrm>
          <a:prstGeom prst="line">
            <a:avLst/>
          </a:prstGeom>
          <a:noFill/>
          <a:ln w="19050">
            <a:solidFill>
              <a:srgbClr val="0E9F8E"/>
            </a:solidFill>
            <a:prstDash val="solid"/>
            <a:tailEnd type="triangle"/>
          </a:ln>
        </p:spPr>
      </p:sp>
      <p:sp>
        <p:nvSpPr>
          <p:cNvPr id="25" name="Text 21"/>
          <p:cNvSpPr/>
          <p:nvPr/>
        </p:nvSpPr>
        <p:spPr>
          <a:xfrm>
            <a:off x="5806440" y="3337560"/>
            <a:ext cx="1737360" cy="1097280"/>
          </a:xfrm>
          <a:prstGeom prst="roundRect">
            <a:avLst>
              <a:gd name="adj" fmla="val 5000"/>
            </a:avLst>
          </a:prstGeom>
          <a:solidFill>
            <a:srgbClr val="0E9F8E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silence trimming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7543800" y="3886200"/>
            <a:ext cx="274320" cy="0"/>
          </a:xfrm>
          <a:prstGeom prst="line">
            <a:avLst/>
          </a:prstGeom>
          <a:noFill/>
          <a:ln w="19050">
            <a:solidFill>
              <a:srgbClr val="0E9F8E"/>
            </a:solidFill>
            <a:prstDash val="solid"/>
            <a:tailEnd type="triangle"/>
          </a:ln>
        </p:spPr>
      </p:sp>
      <p:sp>
        <p:nvSpPr>
          <p:cNvPr id="27" name="Text 23"/>
          <p:cNvSpPr/>
          <p:nvPr/>
        </p:nvSpPr>
        <p:spPr>
          <a:xfrm>
            <a:off x="7818120" y="3337560"/>
            <a:ext cx="1737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80-bin log-Mel (25 ms / 10 ms)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9555480" y="3886200"/>
            <a:ext cx="274320" cy="0"/>
          </a:xfrm>
          <a:prstGeom prst="line">
            <a:avLst/>
          </a:prstGeom>
          <a:noFill/>
          <a:ln w="19050">
            <a:solidFill>
              <a:srgbClr val="0E9F8E"/>
            </a:solidFill>
            <a:prstDash val="solid"/>
            <a:tailEnd type="triangle"/>
          </a:ln>
        </p:spPr>
      </p:sp>
      <p:sp>
        <p:nvSpPr>
          <p:cNvPr id="29" name="Text 25"/>
          <p:cNvSpPr/>
          <p:nvPr/>
        </p:nvSpPr>
        <p:spPr>
          <a:xfrm>
            <a:off x="9829800" y="3337560"/>
            <a:ext cx="1737360" cy="1097280"/>
          </a:xfrm>
          <a:prstGeom prst="roundRect">
            <a:avLst>
              <a:gd name="adj" fmla="val 5000"/>
            </a:avLst>
          </a:prstGeom>
          <a:solidFill>
            <a:srgbClr val="0E9F8E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Per-sample amplitude normalisation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548640" y="498348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E7ECF4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7"/>
          <p:cNvSpPr txBox="1"/>
          <p:nvPr/>
        </p:nvSpPr>
        <p:spPr>
          <a:xfrm>
            <a:off x="822960" y="50749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validation:  </a:t>
            </a:r>
            <a:pPr indent="0" marL="0"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clip checked for corrupted files, missing streams and label inconsistencies across the four categories. Splits are subject-disjoint so no identity appears in both train and test — preventing identity leakage from inflating accuracy.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Dual-Branch Encoders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13233F"/>
          </a:solidFill>
          <a:ln w="12700">
            <a:solidFill>
              <a:srgbClr val="13233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5166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1691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encoder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2960" y="2560320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E7ECF4"/>
          </a:solidFill>
          <a:ln w="12700">
            <a:solidFill>
              <a:srgbClr val="E7ECF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face crops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224×224×3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286000" y="2944368"/>
            <a:ext cx="228600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2514600" y="2560320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ViT-B/16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977640" y="2944368"/>
            <a:ext cx="228600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4206240" y="2560320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E7ECF4"/>
          </a:solidFill>
          <a:ln w="12700">
            <a:solidFill>
              <a:srgbClr val="E7ECF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∈ ℝ^(32×512)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361188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ImageNet-pretrained backbone; first 4 blocks frozen to reduce overfitting.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features projected to 512-d and kept as a token sequence for attention.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blending boundaries, texture and lip-region artefacts.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99632" y="146304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73952" y="1691640"/>
            <a:ext cx="640080" cy="64008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972" y="185166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251192" y="1691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encoder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6473952" y="2560320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E7ECF4"/>
          </a:solidFill>
          <a:ln w="12700">
            <a:solidFill>
              <a:srgbClr val="E7ECF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 waveform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(log-Mel view)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7936992" y="2944368"/>
            <a:ext cx="228600" cy="0"/>
          </a:xfrm>
          <a:prstGeom prst="line">
            <a:avLst/>
          </a:prstGeom>
          <a:noFill/>
          <a:ln w="19050">
            <a:solidFill>
              <a:srgbClr val="0E9F8E"/>
            </a:solidFill>
            <a:prstDash val="solid"/>
            <a:tailEnd type="triangle"/>
          </a:ln>
        </p:spPr>
      </p:sp>
      <p:sp>
        <p:nvSpPr>
          <p:cNvPr id="22" name="Text 18"/>
          <p:cNvSpPr/>
          <p:nvPr/>
        </p:nvSpPr>
        <p:spPr>
          <a:xfrm>
            <a:off x="8165592" y="2560320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0E9F8E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WavLM-Base+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XLS-R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9628632" y="2944368"/>
            <a:ext cx="228600" cy="0"/>
          </a:xfrm>
          <a:prstGeom prst="line">
            <a:avLst/>
          </a:prstGeom>
          <a:noFill/>
          <a:ln w="19050">
            <a:solidFill>
              <a:srgbClr val="0E9F8E"/>
            </a:solidFill>
            <a:prstDash val="solid"/>
            <a:tailEnd type="triangle"/>
          </a:ln>
        </p:spPr>
      </p:sp>
      <p:sp>
        <p:nvSpPr>
          <p:cNvPr id="24" name="Text 20"/>
          <p:cNvSpPr/>
          <p:nvPr/>
        </p:nvSpPr>
        <p:spPr>
          <a:xfrm>
            <a:off x="9857232" y="2560320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E7ECF4"/>
          </a:solidFill>
          <a:ln w="12700">
            <a:solidFill>
              <a:srgbClr val="E7ECF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∈ ℝ^(Tₐ×512)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6519672" y="361188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speech model; Sensitive Layer Selection (SLS) weights informative layers.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states projected to 512-d frame tokens.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+ spectral-flux features retained as a classical baseline for ablation.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Cross-Modal Multi-Head Attention Fusion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tokens 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(32 × 512)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0E9F8E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tokens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(Tₐ × 512)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0" y="1508760"/>
            <a:ext cx="2194560" cy="1097280"/>
          </a:xfrm>
          <a:prstGeom prst="roundRect">
            <a:avLst>
              <a:gd name="adj" fmla="val 5000"/>
            </a:avLst>
          </a:prstGeom>
          <a:solidFill>
            <a:srgbClr val="D94A4A"/>
          </a:solidFill>
          <a:ln w="12700">
            <a:solidFill>
              <a:srgbClr val="D94A4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MHA  V →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visual · K,V = audio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heads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43200" y="3794760"/>
            <a:ext cx="2194560" cy="1097280"/>
          </a:xfrm>
          <a:prstGeom prst="roundRect">
            <a:avLst>
              <a:gd name="adj" fmla="val 5000"/>
            </a:avLst>
          </a:prstGeom>
          <a:solidFill>
            <a:srgbClr val="D94A4A"/>
          </a:solidFill>
          <a:ln w="12700">
            <a:solidFill>
              <a:srgbClr val="D94A4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MHA  A → 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audio · K,V = visual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heads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286000" y="2057400"/>
            <a:ext cx="457200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286000" y="4343400"/>
            <a:ext cx="457200" cy="0"/>
          </a:xfrm>
          <a:prstGeom prst="line">
            <a:avLst/>
          </a:prstGeom>
          <a:noFill/>
          <a:ln w="19050">
            <a:solidFill>
              <a:srgbClr val="0E9F8E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286000" y="2240280"/>
            <a:ext cx="457200" cy="1828800"/>
          </a:xfrm>
          <a:prstGeom prst="line">
            <a:avLst/>
          </a:prstGeom>
          <a:noFill/>
          <a:ln w="19050">
            <a:solidFill>
              <a:srgbClr val="0E9F8E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 flipV="1">
            <a:off x="2286000" y="2377440"/>
            <a:ext cx="457200" cy="178308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5394960" y="1645920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1F3A66"/>
          </a:solidFill>
          <a:ln w="12700">
            <a:solidFill>
              <a:srgbClr val="1F3A6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FFN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94960" y="3931920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1F3A66"/>
          </a:solidFill>
          <a:ln w="12700">
            <a:solidFill>
              <a:srgbClr val="1F3A6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FFN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937760" y="2057400"/>
            <a:ext cx="45720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937760" y="4343400"/>
            <a:ext cx="45720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5394960" y="2788920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E7ECF4"/>
          </a:solidFill>
          <a:ln w="12700">
            <a:solidFill>
              <a:srgbClr val="E7ECF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mean-pool each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040880" y="2057400"/>
            <a:ext cx="457200" cy="91440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 flipV="1">
            <a:off x="7040880" y="3429000"/>
            <a:ext cx="457200" cy="91440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7498080" y="2697480"/>
            <a:ext cx="1463040" cy="1005840"/>
          </a:xfrm>
          <a:prstGeom prst="roundRect">
            <a:avLst>
              <a:gd name="adj" fmla="val 5455"/>
            </a:avLst>
          </a:prstGeom>
          <a:solidFill>
            <a:srgbClr val="E39B2D"/>
          </a:solidFill>
          <a:ln w="12700">
            <a:solidFill>
              <a:srgbClr val="E39B2D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∈ ℝ¹⁰²⁴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229600" y="3703320"/>
            <a:ext cx="0" cy="41148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7498080" y="4114800"/>
            <a:ext cx="1463040" cy="822960"/>
          </a:xfrm>
          <a:prstGeom prst="roundRect">
            <a:avLst>
              <a:gd name="adj" fmla="val 6667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+ Softmax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/ fake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235440" y="1463040"/>
            <a:ext cx="2404872" cy="4709160"/>
          </a:xfrm>
          <a:prstGeom prst="roundRect">
            <a:avLst>
              <a:gd name="adj" fmla="val 3042"/>
            </a:avLst>
          </a:prstGeom>
          <a:solidFill>
            <a:srgbClr val="E7ECF4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9418320" y="1645920"/>
            <a:ext cx="2103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F2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Attn(Q,K,V) = softmax(QKᵀ/√dₖ)V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F2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Zᵥ = LN(V + MHA(V, A, A))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F2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Zₐ = LN(A + MHA(A, V, V))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F2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[pool(Zᵥ) ; pool(Zₐ)]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F2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dₖ = 512 / 8 = 64 per head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bidirectional?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modality queries the other, so audio-only and video-only manipulations both surface as attention mismatches.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3492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focal loss (classification) + annealed KL regulariser when the evidential head is enabled.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Module — Grad-CAM + SHAP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13233F"/>
          </a:solidFill>
          <a:ln w="12700">
            <a:solidFill>
              <a:srgbClr val="13233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5166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16459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(visual)</a:t>
            </a:r>
            <a:endParaRPr lang="en-US" sz="1900" dirty="0"/>
          </a:p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the face is the evidence?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2960" y="2606040"/>
            <a:ext cx="4892040" cy="868680"/>
          </a:xfrm>
          <a:prstGeom prst="roundRect">
            <a:avLst>
              <a:gd name="adj" fmla="val 6316"/>
            </a:avLst>
          </a:prstGeom>
          <a:solidFill>
            <a:srgbClr val="E7ECF4"/>
          </a:solidFill>
          <a:ln>
            <a:solidFill>
              <a:srgbClr val="E7ECF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αₖ = (1/Z) Σᵢⱼ ∂yᶜ/∂Aᵏᵢⱼ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3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Lᶜ = ReLU( Σₖ αₖ Aᵏ 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6576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of the “fake” logit w.r.t. last visual feature maps.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up-sampled and overlaid on face crops, per frame.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mouth, blending boundaries and eyes.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199632" y="146304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73952" y="1691640"/>
            <a:ext cx="640080" cy="64008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972" y="185166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251192" y="16459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(audio)</a:t>
            </a:r>
            <a:endParaRPr lang="en-US" sz="1900" dirty="0"/>
          </a:p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frequency bands and moments?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473952" y="2606040"/>
            <a:ext cx="4892040" cy="868680"/>
          </a:xfrm>
          <a:prstGeom prst="roundRect">
            <a:avLst>
              <a:gd name="adj" fmla="val 631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f(x) = φ₀ + Σᵢ φᵢ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3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φᵢ = Shapley value of Mel-band group i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519672" y="36576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KernelSHAP over grouped Mel bands and time segments.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Band-importance bar chart and time-segment attribution.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vocoder / TTS artefacts in cloned speech.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548640" y="557784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quality is measured, not assumed: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/ insertion AUC for Grad-CAM and attribution stability of SHAP across repeated runs.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 Module — MC Dropout &amp; Evidential Deep Learning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E39B2D"/>
          </a:solidFill>
          <a:ln>
            <a:solidFill>
              <a:srgbClr val="E39B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824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Dropout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FDF1DC"/>
          </a:solidFill>
          <a:ln>
            <a:solidFill>
              <a:srgbClr val="FDF1D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p̄ = (1/T) Σₜ softmax(f(x; θₜ)),  T = 30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3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H[p̄] = − Σₖ p̄ₖ log p̄ₖ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38328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(p = 0.3) kept active at inference.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mean, variance and entropy.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retraining needed; costs T forward passes.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99632" y="1463040"/>
            <a:ext cx="54406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1691640"/>
            <a:ext cx="420624" cy="420624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76872" y="16824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Evidential Deep Learning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73952" y="228600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eₖ = softplus(zₖ),  αₖ = eₖ + 1,  S = Σαₖ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3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p̂ₖ = αₖ / S,   u = K / S  (K = 2)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338328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Dirichlet evidence head, single forward pass.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u high when evidence is low.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with focal loss + annealed KL term.</a:t>
            </a:r>
            <a:endParaRPr lang="en-US" sz="13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074920"/>
          <a:ext cx="11091672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4114800"/>
                <a:gridCol w="4114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 Dropout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Evidential DL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passes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Approx. Bayesian (epistemic)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Evidence-based (Dirichlet)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Decision Routing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confidence scale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240280"/>
            <a:ext cx="6949440" cy="548640"/>
          </a:xfrm>
          <a:prstGeom prst="roundRect">
            <a:avLst>
              <a:gd name="adj" fmla="val 16667"/>
            </a:avLst>
          </a:prstGeom>
          <a:solidFill>
            <a:srgbClr val="FBEAEA"/>
          </a:solidFill>
          <a:ln w="12700">
            <a:solidFill>
              <a:srgbClr val="D94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2240280"/>
            <a:ext cx="3474720" cy="548640"/>
          </a:xfrm>
          <a:prstGeom prst="roundRect">
            <a:avLst>
              <a:gd name="adj" fmla="val 16667"/>
            </a:avLst>
          </a:prstGeom>
          <a:solidFill>
            <a:srgbClr val="E3F4F1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2402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&lt; τ  or  uncertainty &gt; u_max   →   FLAG FOR HUMAN REVIEW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2240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18120" y="2103120"/>
            <a:ext cx="0" cy="822960"/>
          </a:xfrm>
          <a:prstGeom prst="line">
            <a:avLst/>
          </a:prstGeom>
          <a:noFill/>
          <a:ln w="31750">
            <a:solidFill>
              <a:srgbClr val="1323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23760" y="2971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τ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2971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835640" y="2971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291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is chosen on the validation set to balance review workload against residual error.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251960"/>
            <a:ext cx="420624" cy="420624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24281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8463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verdict with heatmap, SHAP plot and calibrated score.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315968" y="4023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44568" y="4251960"/>
            <a:ext cx="420624" cy="420624"/>
          </a:xfrm>
          <a:prstGeom prst="ellipse">
            <a:avLst/>
          </a:prstGeom>
          <a:solidFill>
            <a:srgbClr val="D94A4A"/>
          </a:solidFill>
          <a:ln>
            <a:solidFill>
              <a:srgbClr val="D9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093208" y="424281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4590288" y="48463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sees the same evidence and approves, rejects or escalates.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074152" y="4023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02752" y="4251960"/>
            <a:ext cx="420624" cy="420624"/>
          </a:xfrm>
          <a:prstGeom prst="ellipse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851392" y="424281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8348472" y="48463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Hash, verdict, confidence, uncertainty, model version and timestamp stored.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 &amp; Technology Stack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760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Hyper-parameter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AdamW, lr = 2e-4, cosine decay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heads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per modality → 1024 fused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 (fusion + classifier)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MC-Dropout passes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30 at inference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Focal loss (+ KL for EDL head)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frames × 224×224, 25 fps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kHz, 80-bin log-Mel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seeds, versioned configs, MLflow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583680" y="196596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144000" y="196596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0E9F8E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583680" y="2660904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0E9F8E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torchvision · timm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144000" y="2660904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torchaudio · Librosa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583680" y="3355848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Transformers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144000" y="3355848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0E9F8E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· MTCNN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583680" y="4050792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0E9F8E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Captum · Grad-CAM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9144000" y="4050792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583680" y="4745736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FastAPI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9144000" y="4745736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0E9F8E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583680" y="544068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0E9F8E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9144000" y="544068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Code — Cross-Modal Attention Fusion Module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7589520" cy="4709160"/>
          </a:xfrm>
          <a:prstGeom prst="roundRect">
            <a:avLst>
              <a:gd name="adj" fmla="val 1553"/>
            </a:avLst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645920"/>
            <a:ext cx="72237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FD1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CrossAttentionFusion(nn.Module):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D1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d=512, heads=8, p=0.3):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self.v2a = nn.MultiheadAttention(d, heads, dropout=p, batch_first=True)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self.a2v = nn.MultiheadAttention(d, heads, dropout=p, batch_first=True)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self.norm_v, self.norm_a = nn.LayerNorm(d), nn.LayerNorm(d)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self.ffn  = nn.Sequential(nn.Linear(2*d, 2*d), nn.GELU(), nn.Dropout(p))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self.head = nn.Sequential(nn.Linear(2*d, 256), nn.GELU(),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nn.Dropout(p), nn.Linear(256, 2))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D1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forward(self, V, A):             # V:(B,Tv,512)  A:(B,Ta,512)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zv, w_va = self.v2a(V, A, A)     # visual queries attend to audio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za, w_av = self.a2v(A, V, V)     # audio queries attend to video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zv = self.norm_v(V + zv).mean(1)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za = self.norm_a(A + za).mean(1)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  = self.ffn(torch.cat([zv, za], dim=-1))   # fused 1024-d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self.head(h), (w_va, w_av)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366760" y="1463040"/>
            <a:ext cx="3273552" cy="4709160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95360" y="1691640"/>
            <a:ext cx="420624" cy="420624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144000" y="1682496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641080" y="2286000"/>
            <a:ext cx="277063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nn.MultiheadAttention blocks give bidirectional cross-attention.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+ LayerNorm keep training stable.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Mean-pooled streams concatenated into a 1024-d fused vector.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 returned for inspection alongside Grad-CAM / SHAP.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Code — Uncertainty Estimation &amp; Review Routing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Dropout inference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852160" cy="4389120"/>
          </a:xfrm>
          <a:prstGeom prst="roundRect">
            <a:avLst>
              <a:gd name="adj" fmla="val 1667"/>
            </a:avLst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938528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D1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enable_dropout(model):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m in model.modules():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isinstance(m, nn.Dropout):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m.train()          # BN stays in eval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1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@torch.no_grad()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1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mc_predict(model, V, A, T=30):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model.eval(); enable_dropout(model)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probs = torch.stack([model(V, A)[0].softmax(-1)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for _ in range(T)])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mean = probs.mean(0)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 = probs.var(0).sum(-1)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  = -(mean * mean.clamp_min(1e-8).log()).sum(-1)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mean, var, ent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417320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Evidential head &amp; routing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1783080"/>
            <a:ext cx="5056632" cy="4389120"/>
          </a:xfrm>
          <a:prstGeom prst="roundRect">
            <a:avLst>
              <a:gd name="adj" fmla="val 1667"/>
            </a:avLst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84848" y="1938528"/>
            <a:ext cx="469087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D1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evidential(logits, K=2):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alpha = F.softplus(logits) + 1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 alpha.sum(-1, keepdim=True)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alpha / S, K / S.squeeze(-1)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1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route(mean, unc, tau=0.85, u_max=0.5):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conf, pred = mean.max(-1)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review = (conf &lt; tau) | (unc &gt; u_max)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pred, conf, review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8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review == True  -&gt;  human queue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8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tau, u_max tuned on validation set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 Dashboard — Prototype Interface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11091672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1554480"/>
            <a:ext cx="10817352" cy="502920"/>
          </a:xfrm>
          <a:prstGeom prst="rect">
            <a:avLst/>
          </a:prstGeom>
          <a:solidFill>
            <a:srgbClr val="13233F"/>
          </a:solidFill>
          <a:ln w="12700">
            <a:solidFill>
              <a:srgbClr val="1323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1554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Forensics Dashboard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778240" y="1627632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0E9F8E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clip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104120" y="1627632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2A4470"/>
          </a:solidFill>
          <a:ln w="12700">
            <a:solidFill>
              <a:srgbClr val="2A447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240280"/>
            <a:ext cx="3566160" cy="3749040"/>
          </a:xfrm>
          <a:prstGeom prst="rect">
            <a:avLst/>
          </a:prstGeom>
          <a:solidFill>
            <a:srgbClr val="E7ECF4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80160" y="246888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22406A"/>
          </a:solidFill>
          <a:ln w="12700">
            <a:solidFill>
              <a:srgbClr val="22406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148840" y="2606040"/>
            <a:ext cx="914400" cy="1188720"/>
          </a:xfrm>
          <a:prstGeom prst="ellipse">
            <a:avLst/>
          </a:prstGeom>
          <a:solidFill>
            <a:srgbClr val="3A5A8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86000" y="3291840"/>
            <a:ext cx="640080" cy="411480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4480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clip.mp4  ·  Grad-CAM overlay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097280" y="5116068"/>
            <a:ext cx="128016" cy="19202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12164" y="5036058"/>
            <a:ext cx="128016" cy="35204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527048" y="4956048"/>
            <a:ext cx="128016" cy="5120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741932" y="5084064"/>
            <a:ext cx="128016" cy="256032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956816" y="4908042"/>
            <a:ext cx="128016" cy="60807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171700" y="5020056"/>
            <a:ext cx="128016" cy="38404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386584" y="5100066"/>
            <a:ext cx="128016" cy="22402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601468" y="4940046"/>
            <a:ext cx="128016" cy="544068"/>
          </a:xfrm>
          <a:prstGeom prst="rect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816352" y="4892040"/>
            <a:ext cx="128016" cy="640080"/>
          </a:xfrm>
          <a:prstGeom prst="rect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031236" y="4988052"/>
            <a:ext cx="128016" cy="448056"/>
          </a:xfrm>
          <a:prstGeom prst="rect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46120" y="5068062"/>
            <a:ext cx="128016" cy="28803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461004" y="5004054"/>
            <a:ext cx="128016" cy="416052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675888" y="5116068"/>
            <a:ext cx="128016" cy="19202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890772" y="5052060"/>
            <a:ext cx="128016" cy="32004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2960" y="5669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(suspicious segment in red)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0" y="2240280"/>
            <a:ext cx="3383280" cy="1737360"/>
          </a:xfrm>
          <a:prstGeom prst="rect">
            <a:avLst/>
          </a:prstGeom>
          <a:solidFill>
            <a:srgbClr val="FBEAEA"/>
          </a:solidFill>
          <a:ln w="12700">
            <a:solidFill>
              <a:srgbClr val="D94A4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72000" y="228600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· Uncertainty · Model version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138160" y="2240280"/>
            <a:ext cx="3200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13816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Mel-band importance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366760" y="2651760"/>
            <a:ext cx="365760" cy="13716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366760" y="2852928"/>
            <a:ext cx="822960" cy="13716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366760" y="3054096"/>
            <a:ext cx="1463040" cy="13716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366760" y="3255264"/>
            <a:ext cx="2103120" cy="137160"/>
          </a:xfrm>
          <a:prstGeom prst="rect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366760" y="3456432"/>
            <a:ext cx="1097280" cy="13716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366760" y="3657600"/>
            <a:ext cx="548640" cy="13716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572000" y="4160520"/>
            <a:ext cx="67665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70916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gauge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709160" y="4572000"/>
            <a:ext cx="6492240" cy="228600"/>
          </a:xfrm>
          <a:prstGeom prst="rect">
            <a:avLst/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709160" y="4572000"/>
            <a:ext cx="5669280" cy="2286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875520" y="4480560"/>
            <a:ext cx="0" cy="411480"/>
          </a:xfrm>
          <a:prstGeom prst="line">
            <a:avLst/>
          </a:prstGeom>
          <a:noFill/>
          <a:ln w="25400">
            <a:solidFill>
              <a:srgbClr val="13233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92124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4572000" y="5166360"/>
            <a:ext cx="6766560" cy="822960"/>
          </a:xfrm>
          <a:prstGeom prst="rect">
            <a:avLst/>
          </a:prstGeom>
          <a:solidFill>
            <a:srgbClr val="FDF1DC"/>
          </a:solidFill>
          <a:ln>
            <a:solidFill>
              <a:srgbClr val="E39B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 — low-confidence cases pending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Approve ]    [ Reject ]    [ Escalate to forensic team ]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Status — Modules Delivered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1417320" cy="1097280"/>
          </a:xfrm>
          <a:prstGeom prst="roundRect">
            <a:avLst>
              <a:gd name="adj" fmla="val 5000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Validation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965960" y="2148840"/>
            <a:ext cx="182880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548640" y="2788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148840" y="1600200"/>
            <a:ext cx="1417320" cy="1097280"/>
          </a:xfrm>
          <a:prstGeom prst="roundRect">
            <a:avLst>
              <a:gd name="adj" fmla="val 5000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(Face + Audio)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66160" y="2148840"/>
            <a:ext cx="182880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2148840" y="2788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Done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749040" y="1600200"/>
            <a:ext cx="1417320" cy="1097280"/>
          </a:xfrm>
          <a:prstGeom prst="roundRect">
            <a:avLst>
              <a:gd name="adj" fmla="val 5000"/>
            </a:avLst>
          </a:prstGeom>
          <a:solidFill>
            <a:srgbClr val="13233F"/>
          </a:solidFill>
          <a:ln w="12700">
            <a:solidFill>
              <a:srgbClr val="13233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Unimodal Baselines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166360" y="2148840"/>
            <a:ext cx="182880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3749040" y="2788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Done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49240" y="1600200"/>
            <a:ext cx="1417320" cy="1097280"/>
          </a:xfrm>
          <a:prstGeom prst="roundRect">
            <a:avLst>
              <a:gd name="adj" fmla="val 5000"/>
            </a:avLst>
          </a:prstGeom>
          <a:solidFill>
            <a:srgbClr val="0E9F8E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Fusion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66560" y="2148840"/>
            <a:ext cx="182880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5349240" y="2788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Done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949440" y="1600200"/>
            <a:ext cx="1417320" cy="1097280"/>
          </a:xfrm>
          <a:prstGeom prst="roundRect">
            <a:avLst>
              <a:gd name="adj" fmla="val 5000"/>
            </a:avLst>
          </a:prstGeom>
          <a:solidFill>
            <a:srgbClr val="0E9F8E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(Grad-CAM + SHAP)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366760" y="2148840"/>
            <a:ext cx="182880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6949440" y="2788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Done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549640" y="1600200"/>
            <a:ext cx="1417320" cy="1097280"/>
          </a:xfrm>
          <a:prstGeom prst="roundRect">
            <a:avLst>
              <a:gd name="adj" fmla="val 5000"/>
            </a:avLst>
          </a:prstGeom>
          <a:solidFill>
            <a:srgbClr val="0E9F8E"/>
          </a:solidFill>
          <a:ln w="12700">
            <a:solidFill>
              <a:srgbClr val="0E9F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(MC / EDL)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966960" y="2148840"/>
            <a:ext cx="182880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8549640" y="2788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Done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149840" y="1600200"/>
            <a:ext cx="1417320" cy="1097280"/>
          </a:xfrm>
          <a:prstGeom prst="roundRect">
            <a:avLst>
              <a:gd name="adj" fmla="val 5000"/>
            </a:avLst>
          </a:prstGeom>
          <a:solidFill>
            <a:srgbClr val="E39B2D"/>
          </a:solidFill>
          <a:ln w="12700">
            <a:solidFill>
              <a:srgbClr val="E39B2D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Dashboard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149840" y="2788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Done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48640" y="3383280"/>
            <a:ext cx="35661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77240" y="3611880"/>
            <a:ext cx="420624" cy="420624"/>
          </a:xfrm>
          <a:prstGeom prst="ellipse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325880" y="360273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Foundation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" y="420624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30-paper survey &amp; gap analysis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SRS, HLD, LLD, UML design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unimodal baselines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4315968" y="3383280"/>
            <a:ext cx="35661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544568" y="3611880"/>
            <a:ext cx="420624" cy="420624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093208" y="360273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Core model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4590288" y="420624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cross-attention fusion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+ SHAP explanations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MC-Dropout &amp; evidential heads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8074152" y="3383280"/>
            <a:ext cx="35661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8302752" y="3611880"/>
            <a:ext cx="420624" cy="420624"/>
          </a:xfrm>
          <a:prstGeom prst="ellipse">
            <a:avLst/>
          </a:prstGeom>
          <a:solidFill>
            <a:srgbClr val="E39B2D"/>
          </a:solidFill>
          <a:ln>
            <a:solidFill>
              <a:srgbClr val="E39B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8851392" y="360273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Evaluation</a:t>
            </a:r>
            <a:endParaRPr lang="en-US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8348472" y="420624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&amp; cross-dataset tests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&amp; threshold tuning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prototype &amp; paper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097280"/>
            <a:ext cx="5029200" cy="5029200"/>
          </a:xfrm>
          <a:prstGeom prst="ellipse">
            <a:avLst/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931920"/>
            <a:ext cx="3291840" cy="3291840"/>
          </a:xfrm>
          <a:prstGeom prst="ellipse">
            <a:avLst/>
          </a:prstGeom>
          <a:solidFill>
            <a:srgbClr val="17404F"/>
          </a:solidFill>
          <a:ln w="12700">
            <a:solidFill>
              <a:srgbClr val="1740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Discussion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metrics, detection results, ablation study, calibration, explanations and comparison with existing work.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57016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1664208"/>
            <a:ext cx="420624" cy="420624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664208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P · R · F1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40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 = (TP+TN)/N;  F1 = 2PR/(P+R)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926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and class-wise reliability under imbalance.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15968" y="1463040"/>
            <a:ext cx="3557016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17136" y="1664208"/>
            <a:ext cx="420624" cy="420624"/>
          </a:xfrm>
          <a:prstGeom prst="ellipse">
            <a:avLst/>
          </a:prstGeom>
          <a:solidFill>
            <a:srgbClr val="D94A4A"/>
          </a:solidFill>
          <a:ln>
            <a:solidFill>
              <a:srgbClr val="D9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47488" y="1664208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&amp; EER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517136" y="2240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 under TPR–FPR curve; EER where FPR = FNR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17136" y="2926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Threshold-independent separability of real vs fake.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83296" y="1463040"/>
            <a:ext cx="3557016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84464" y="1664208"/>
            <a:ext cx="420624" cy="420624"/>
          </a:xfrm>
          <a:prstGeom prst="ellipse">
            <a:avLst/>
          </a:prstGeom>
          <a:solidFill>
            <a:srgbClr val="E39B2D"/>
          </a:solidFill>
          <a:ln>
            <a:solidFill>
              <a:srgbClr val="E39B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814816" y="1664208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Calibration Error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284464" y="2240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ECE = Σₘ (|Bₘ|/n) · |acc(Bₘ) − conf(Bₘ)|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84464" y="2926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reported confidence match actual correctness?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858768"/>
            <a:ext cx="3557016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4059936"/>
            <a:ext cx="420624" cy="420624"/>
          </a:xfrm>
          <a:prstGeom prst="ellipse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05993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Fidelity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463600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Deletion / insertion AUC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532180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highlighted regions really drive the prediction?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15968" y="3858768"/>
            <a:ext cx="3557016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17136" y="4059936"/>
            <a:ext cx="420624" cy="420624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047488" y="405993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Accuracy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4517136" y="463600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 on auto-accepted clips; % routed to review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17136" y="532180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the uncertainty gate in practice.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83296" y="3858768"/>
            <a:ext cx="3557016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84464" y="4059936"/>
            <a:ext cx="420624" cy="420624"/>
          </a:xfrm>
          <a:prstGeom prst="ellipse">
            <a:avLst/>
          </a:prstGeom>
          <a:solidFill>
            <a:srgbClr val="D94A4A"/>
          </a:solidFill>
          <a:ln>
            <a:solidFill>
              <a:srgbClr val="D9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814816" y="405993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AUC Drop</a:t>
            </a:r>
            <a:endParaRPr lang="en-US" sz="1550" dirty="0"/>
          </a:p>
        </p:txBody>
      </p:sp>
      <p:sp>
        <p:nvSpPr>
          <p:cNvPr id="34" name="Text 32"/>
          <p:cNvSpPr txBox="1"/>
          <p:nvPr/>
        </p:nvSpPr>
        <p:spPr>
          <a:xfrm>
            <a:off x="8284464" y="463600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AUC(in-domain) − AUC(unseen dataset)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284464" y="532180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 to AV-Deepfake1M and DFD.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Performance on FakeAVCeleb (Test Split)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144000" y="365760"/>
            <a:ext cx="2514600" cy="274320"/>
          </a:xfrm>
          <a:prstGeom prst="roundRect">
            <a:avLst>
              <a:gd name="adj" fmla="val 33333"/>
            </a:avLst>
          </a:prstGeom>
          <a:solidFill>
            <a:srgbClr val="FDF1DC"/>
          </a:solidFill>
          <a:ln w="9525">
            <a:solidFill>
              <a:srgbClr val="E39B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“—” WITH YOUR MEASURED VALUES</a:t>
            </a:r>
            <a:endParaRPr lang="en-US" sz="9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410712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Video-only (EfficientNet-B0)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Audio-only (WavLM + SLS)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concatenation fusion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cross-attention fusion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+ MC Dropout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+ Evidential head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892040"/>
            <a:ext cx="3557016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777240" y="49834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9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%</a:t>
            </a:r>
            <a:endParaRPr lang="en-US" sz="3200" dirty="0"/>
          </a:p>
        </p:txBody>
      </p:sp>
      <p:sp>
        <p:nvSpPr>
          <p:cNvPr id="11" name="Text 7"/>
          <p:cNvSpPr txBox="1"/>
          <p:nvPr/>
        </p:nvSpPr>
        <p:spPr>
          <a:xfrm>
            <a:off x="2286000" y="49834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accuracy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315968" y="4892040"/>
            <a:ext cx="3557016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4544568" y="49834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%</a:t>
            </a:r>
            <a:endParaRPr lang="en-US" sz="3200" dirty="0"/>
          </a:p>
        </p:txBody>
      </p:sp>
      <p:sp>
        <p:nvSpPr>
          <p:cNvPr id="14" name="Text 10"/>
          <p:cNvSpPr txBox="1"/>
          <p:nvPr/>
        </p:nvSpPr>
        <p:spPr>
          <a:xfrm>
            <a:off x="6053328" y="49834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over best unimodal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83296" y="4892040"/>
            <a:ext cx="3557016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8311896" y="49834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3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%</a:t>
            </a:r>
            <a:endParaRPr lang="en-US" sz="3200" dirty="0"/>
          </a:p>
        </p:txBody>
      </p:sp>
      <p:sp>
        <p:nvSpPr>
          <p:cNvPr id="17" name="Text 13"/>
          <p:cNvSpPr txBox="1"/>
          <p:nvPr/>
        </p:nvSpPr>
        <p:spPr>
          <a:xfrm>
            <a:off x="9820656" y="49834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AUC-ROC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Study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144000" y="365760"/>
            <a:ext cx="2514600" cy="274320"/>
          </a:xfrm>
          <a:prstGeom prst="roundRect">
            <a:avLst>
              <a:gd name="adj" fmla="val 33333"/>
            </a:avLst>
          </a:prstGeom>
          <a:solidFill>
            <a:srgbClr val="FDF1DC"/>
          </a:solidFill>
          <a:ln w="9525">
            <a:solidFill>
              <a:srgbClr val="E39B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“—” WITH YOUR MEASURED VALUES</a:t>
            </a:r>
            <a:endParaRPr lang="en-US" sz="9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3959352"/>
                <a:gridCol w="941832"/>
                <a:gridCol w="941832"/>
                <a:gridCol w="950976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answered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Video-only branch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strong is visual evidence alone?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Audio-only branch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strong is audio evidence alone?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concatenation fusion (no attention)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cross-attention beat naive fusion?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Cross-modal fusion — full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complete framework achieve?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model − explainability 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XAI affect accuracy or only interpretability?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model − uncertainty 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removing uncertainty affect calibration only?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FakeAVCeleb → test AV-Deepfake1M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well does the framework generalise?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&amp; Uncertainty Analysis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144000" y="365760"/>
            <a:ext cx="2514600" cy="274320"/>
          </a:xfrm>
          <a:prstGeom prst="roundRect">
            <a:avLst>
              <a:gd name="adj" fmla="val 33333"/>
            </a:avLst>
          </a:prstGeom>
          <a:solidFill>
            <a:srgbClr val="FDF1DC"/>
          </a:solidFill>
          <a:ln w="9525">
            <a:solidFill>
              <a:srgbClr val="E39B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“—” WITH YOUR MEASURED VALUES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1206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48640" y="1554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diagram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234440" y="2011680"/>
            <a:ext cx="3931920" cy="3474720"/>
          </a:xfrm>
          <a:prstGeom prst="rect">
            <a:avLst/>
          </a:prstGeom>
          <a:solidFill>
            <a:srgbClr val="FAFBFD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1234440" y="2011680"/>
            <a:ext cx="3931920" cy="3474720"/>
          </a:xfrm>
          <a:prstGeom prst="line">
            <a:avLst/>
          </a:prstGeom>
          <a:noFill/>
          <a:ln w="15875">
            <a:solidFill>
              <a:srgbClr val="5B6B82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 rot="-2460000">
            <a:off x="301752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calibration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5532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 rot="16200000">
            <a:off x="27432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plot here</a:t>
            </a:r>
            <a:endParaRPr lang="en-US" sz="11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463040"/>
          <a:ext cx="5742432" cy="914400"/>
        </p:xfrm>
        <a:graphic>
          <a:graphicData uri="http://schemas.openxmlformats.org/drawingml/2006/table">
            <a:tbl>
              <a:tblPr/>
              <a:tblGrid>
                <a:gridCol w="1901952"/>
                <a:gridCol w="822960"/>
                <a:gridCol w="1097280"/>
                <a:gridCol w="914400"/>
                <a:gridCol w="10058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 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Selective Acc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 caught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(softmax 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+ MC Dropout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+ Evidential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5897880" y="3931920"/>
            <a:ext cx="574243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126480" y="4160520"/>
            <a:ext cx="420624" cy="420624"/>
          </a:xfrm>
          <a:prstGeom prst="ellipse">
            <a:avLst/>
          </a:prstGeom>
          <a:solidFill>
            <a:srgbClr val="E39B2D"/>
          </a:solidFill>
          <a:ln>
            <a:solidFill>
              <a:srgbClr val="E39B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675120" y="4151376"/>
            <a:ext cx="4782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6172200" y="4754880"/>
            <a:ext cx="5239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ECE → confidence scores can be trusted.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accuracy should rise as uncertain clips are routed to review.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“Errors caught” = wrong predictions that were flagged instead of auto-accepted.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Results — Visual &amp; Audio Evidence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2642616" cy="3291840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645920"/>
            <a:ext cx="2276856" cy="2286000"/>
          </a:xfrm>
          <a:prstGeom prst="rect">
            <a:avLst/>
          </a:prstGeom>
          <a:solidFill>
            <a:srgbClr val="F7F9FC"/>
          </a:solidFill>
          <a:ln w="15875">
            <a:solidFill>
              <a:srgbClr val="13233F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1527048" y="2331720"/>
            <a:ext cx="685800" cy="685800"/>
          </a:xfrm>
          <a:prstGeom prst="ellipse">
            <a:avLst/>
          </a:prstGeom>
          <a:solidFill>
            <a:srgbClr val="13233F"/>
          </a:solidFill>
          <a:ln w="12700">
            <a:solidFill>
              <a:srgbClr val="13233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8498" y="250317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5800" y="402336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— fake (face-swap)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364992" y="1463040"/>
            <a:ext cx="2642616" cy="3291840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547872" y="1645920"/>
            <a:ext cx="2276856" cy="2286000"/>
          </a:xfrm>
          <a:prstGeom prst="rect">
            <a:avLst/>
          </a:prstGeom>
          <a:solidFill>
            <a:srgbClr val="F7F9FC"/>
          </a:solidFill>
          <a:ln w="15875">
            <a:solidFill>
              <a:srgbClr val="0E9F8E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4343400" y="2331720"/>
            <a:ext cx="685800" cy="68580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850" y="250317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502152" y="402336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— real sample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81344" y="1463040"/>
            <a:ext cx="2642616" cy="3291840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364224" y="1645920"/>
            <a:ext cx="2276856" cy="2286000"/>
          </a:xfrm>
          <a:prstGeom prst="rect">
            <a:avLst/>
          </a:prstGeom>
          <a:solidFill>
            <a:srgbClr val="F7F9FC"/>
          </a:solidFill>
          <a:ln w="15875">
            <a:solidFill>
              <a:srgbClr val="D94A4A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7159752" y="2331720"/>
            <a:ext cx="685800" cy="685800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202" y="250317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18504" y="402336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cloned voice (Mel bands)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8997696" y="1463040"/>
            <a:ext cx="2642616" cy="3291840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180576" y="1645920"/>
            <a:ext cx="2276856" cy="2286000"/>
          </a:xfrm>
          <a:prstGeom prst="rect">
            <a:avLst/>
          </a:prstGeom>
          <a:solidFill>
            <a:srgbClr val="F7F9FC"/>
          </a:solidFill>
          <a:ln w="15875">
            <a:solidFill>
              <a:srgbClr val="E39B2D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9976104" y="2331720"/>
            <a:ext cx="685800" cy="685800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7554" y="2503170"/>
            <a:ext cx="342900" cy="3429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134856" y="402336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/ insertion curve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9144000" y="365760"/>
            <a:ext cx="2514600" cy="274320"/>
          </a:xfrm>
          <a:prstGeom prst="roundRect">
            <a:avLst>
              <a:gd name="adj" fmla="val 33333"/>
            </a:avLst>
          </a:prstGeom>
          <a:solidFill>
            <a:srgbClr val="FDF1DC"/>
          </a:solidFill>
          <a:ln w="9525">
            <a:solidFill>
              <a:srgbClr val="E39B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“—” WITH YOUR MEASURED VALUES</a:t>
            </a:r>
            <a:endParaRPr lang="en-US" sz="9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37760"/>
          <a:ext cx="11091672" cy="914400"/>
        </p:xfrm>
        <a:graphic>
          <a:graphicData uri="http://schemas.openxmlformats.org/drawingml/2006/table">
            <a:tbl>
              <a:tblPr/>
              <a:tblGrid>
                <a:gridCol w="3776472"/>
                <a:gridCol w="3657600"/>
                <a:gridCol w="36576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 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Grad-CAM (visual)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(audio)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Deletion AUC 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 AUC ↑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Stability across runs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Cross-Dataset Generalisation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144000" y="365760"/>
            <a:ext cx="2514600" cy="274320"/>
          </a:xfrm>
          <a:prstGeom prst="roundRect">
            <a:avLst>
              <a:gd name="adj" fmla="val 33333"/>
            </a:avLst>
          </a:prstGeom>
          <a:solidFill>
            <a:srgbClr val="FDF1DC"/>
          </a:solidFill>
          <a:ln w="9525">
            <a:solidFill>
              <a:srgbClr val="E39B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“—” WITH YOUR MEASURED VALUES</a:t>
            </a:r>
            <a:endParaRPr lang="en-US" sz="9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4066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  <a:gridCol w="1371600"/>
                <a:gridCol w="13716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→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unimodal 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drop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FakeAVCeleb → FakeAVCeleb (in-domain)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FakeAVCeleb → AV-Deepfake1M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FakeAVCeleb → DFD (visual-only)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183880" y="1463040"/>
            <a:ext cx="3456432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412480" y="1600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45–50%</a:t>
            </a:r>
            <a:endParaRPr lang="en-US" sz="3800" dirty="0"/>
          </a:p>
        </p:txBody>
      </p:sp>
      <p:sp>
        <p:nvSpPr>
          <p:cNvPr id="11" name="Text 7"/>
          <p:cNvSpPr txBox="1"/>
          <p:nvPr/>
        </p:nvSpPr>
        <p:spPr>
          <a:xfrm>
            <a:off x="8412480" y="24231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loss of SOTA detectors on in-the-wild data (Deepfake-Eval-2024) — the reference point for our cross-dataset drop.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251960"/>
            <a:ext cx="1109167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77240" y="4480560"/>
            <a:ext cx="420624" cy="420624"/>
          </a:xfrm>
          <a:prstGeom prst="ellipse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325880" y="4471416"/>
            <a:ext cx="10131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5074920"/>
            <a:ext cx="10588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only on FakeAVCeleb; no fine-tuning on target sets.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contains no audio manipulation — evaluated with the visual branch and fusion using the original audio track.</a:t>
            </a:r>
            <a:endParaRPr lang="en-US" sz="13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Plan &amp; Execution Status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144000" y="365760"/>
            <a:ext cx="2514600" cy="274320"/>
          </a:xfrm>
          <a:prstGeom prst="roundRect">
            <a:avLst>
              <a:gd name="adj" fmla="val 33333"/>
            </a:avLst>
          </a:prstGeom>
          <a:solidFill>
            <a:srgbClr val="FDF1DC"/>
          </a:solidFill>
          <a:ln w="9525">
            <a:solidFill>
              <a:srgbClr val="E39B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“—” WITH YOUR MEASURED VALUES</a:t>
            </a:r>
            <a:endParaRPr lang="en-US" sz="9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06240"/>
                <a:gridCol w="1371600"/>
                <a:gridCol w="3593592"/>
                <a:gridCol w="1097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Video-only classifier on FakeAVCeleb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2% of published baseline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Audio-only classifier on FakeAVCeleb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2% of published baseline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Cross-modal fusion end-to-end inference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≥ both unimodal baselines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Grad-CAM for every fake prediction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Non-empty, spatially aligned map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explanation for audio stream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Non-empty attribution over Mel bands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Confidence-threshold routing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Below-τ samples enqueued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 check on validation 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 below target (e.g. &lt; 0.05)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Cross-dataset generalisation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drop documented and bounded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— single clip inference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 s per 10 s clip on GPU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Existing Approaches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88720"/>
                <a:gridCol w="1188720"/>
                <a:gridCol w="1828800"/>
                <a:gridCol w="1463040"/>
                <a:gridCol w="249631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A-V Fusion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AVFF (CVPR 2024)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98.6% Acc — FakeAVCeleb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KLASSify to Verify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92.78% AUC — AV-Deepfake1M++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CNN-RNN + Grad-CAM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88.3% Acc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Transformer (images)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(image)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92.76% Acc, 0.97 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Multi-View Evidential Learning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D9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 lower ECE — CDFv2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Grad-CAM + SHAP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MC / EDL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(your result)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results are taken from the respective papers and use different datasets and protocols, so they are not directly comparable; the capability columns are the primary comparison.</a:t>
            </a:r>
            <a:endParaRPr lang="en-US" sz="12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Limitations, Risks &amp; Mitigation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487375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/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adopted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bias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overlap can inflate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Subject-disjoint splits; cross-dataset 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+ XAI + MC Dropout slows inference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SLS layer selection, cached embeddings, EDL single-pass 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Generalisation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Diffusion-era and in-the-wild fakes differ from training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Cross-dataset tests; flag out-of-distribution clips via uncertainty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 reliability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Saliency can be unstable for similar inputs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Deletion / insertion AUC and stability reported as metrics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Miscalibration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confidence undermines the review queue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 reported; τ tuned on validation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Single-speaker, short clips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Multi-speaker and streaming left as future 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097280"/>
            <a:ext cx="5029200" cy="5029200"/>
          </a:xfrm>
          <a:prstGeom prst="ellipse">
            <a:avLst/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931920"/>
            <a:ext cx="3291840" cy="3291840"/>
          </a:xfrm>
          <a:prstGeom prst="ellipse">
            <a:avLst/>
          </a:prstGeom>
          <a:solidFill>
            <a:srgbClr val="17404F"/>
          </a:solidFill>
          <a:ln w="12700">
            <a:solidFill>
              <a:srgbClr val="1740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Paper &amp; Conclusion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 summary, target venue, conclusions and future directions.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Paper — Manuscript Summary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55778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double-column manuscript (6–8 pages)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103120"/>
            <a:ext cx="347472" cy="347472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21031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Keywords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2596896"/>
            <a:ext cx="347472" cy="347472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59689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3090672"/>
            <a:ext cx="347472" cy="347472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30906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/ Related Work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3584448"/>
            <a:ext cx="347472" cy="347472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35844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68680" y="4078224"/>
            <a:ext cx="347472" cy="347472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40782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68680" y="4572000"/>
            <a:ext cx="347472" cy="347472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45720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Discussion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68680" y="5065776"/>
            <a:ext cx="347472" cy="347472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371600" y="506577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Work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68680" y="5559552"/>
            <a:ext cx="347472" cy="347472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371600" y="55595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(IEEE style)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355080" y="1463040"/>
            <a:ext cx="52852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583680" y="1691640"/>
            <a:ext cx="420624" cy="420624"/>
          </a:xfrm>
          <a:prstGeom prst="ellipse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178040" y="1645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venue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178040" y="21031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international conference on multimedia forensics / signal &amp; image processing; Scopus-indexed proceedings as secondary target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355080" y="3063240"/>
            <a:ext cx="52852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583680" y="3291840"/>
            <a:ext cx="420624" cy="420624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178040" y="3246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index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7178040" y="3703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department limit (&lt; 15%, excluding references)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355080" y="4663440"/>
            <a:ext cx="52852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583680" y="4892040"/>
            <a:ext cx="420624" cy="420624"/>
          </a:xfrm>
          <a:prstGeom prst="ellipse">
            <a:avLst/>
          </a:prstGeom>
          <a:solidFill>
            <a:srgbClr val="E39B2D"/>
          </a:solidFill>
          <a:ln>
            <a:solidFill>
              <a:srgbClr val="E39B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7178040" y="48463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7178040" y="53035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Guide-signed paper approval sheet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0E9F8E"/>
          </a:solidFill>
          <a:ln>
            <a:solidFill>
              <a:srgbClr val="0E9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8249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by design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860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attention lets each stream query the other, exposing lip-sync, spectral and identity inconsistencies unimodal detectors miss.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9632" y="14630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8232" y="1691640"/>
            <a:ext cx="420624" cy="420624"/>
          </a:xfrm>
          <a:prstGeom prst="ellipse">
            <a:avLst/>
          </a:prstGeom>
          <a:solidFill>
            <a:srgbClr val="D94A4A"/>
          </a:solidFill>
          <a:ln>
            <a:solidFill>
              <a:srgbClr val="D9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76872" y="168249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with every verdict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22860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face heatmaps and SHAP spectral attributions give reviewers inspectable reasons for each decision.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703320"/>
            <a:ext cx="420624" cy="420624"/>
          </a:xfrm>
          <a:prstGeom prst="ellipse">
            <a:avLst/>
          </a:prstGeom>
          <a:solidFill>
            <a:srgbClr val="E39B2D"/>
          </a:solidFill>
          <a:ln>
            <a:solidFill>
              <a:srgbClr val="E39B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69417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when it is unsure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2976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Dropout and evidential uncertainty route doubtful clips to a human instead of issuing a silent wrong verdict.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99632" y="347472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28232" y="3703320"/>
            <a:ext cx="420624" cy="420624"/>
          </a:xfrm>
          <a:prstGeom prst="ellipse">
            <a:avLst/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76872" y="369417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a validated gap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73952" y="42976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30-paper survey found no prior work combining fusion, explainability and uncertainty for A-V deepfakes.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13233F"/>
          </a:solidFill>
          <a:ln>
            <a:solidFill>
              <a:srgbClr val="13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question: can an audio-visual deepfake detector be accurate, explainable and honest about its own uncertainty at the same time?</a:t>
            </a:r>
            <a:endParaRPr lang="en-US" sz="14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57016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91640"/>
            <a:ext cx="685800" cy="685800"/>
          </a:xfrm>
          <a:prstGeom prst="ellipse">
            <a:avLst/>
          </a:prstGeom>
          <a:solidFill>
            <a:srgbClr val="13233F"/>
          </a:solidFill>
          <a:ln w="12700">
            <a:solidFill>
              <a:srgbClr val="13233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863090"/>
            <a:ext cx="342900" cy="3429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1691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localisation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603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the exact manipulated segments within long videos.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15968" y="1463040"/>
            <a:ext cx="3557016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4568" y="1691640"/>
            <a:ext cx="685800" cy="68580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8" y="186309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67528" y="1691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deployment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4544568" y="25603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detection API and browser plug-in for platforms.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083296" y="1463040"/>
            <a:ext cx="3557016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11896" y="1691640"/>
            <a:ext cx="685800" cy="685800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346" y="1863090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34856" y="1691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In-the-wild &amp; diffusion fakes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8311896" y="25603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training to diffusion-era and Deepfake-Eval-2024-style data.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548640" y="3858768"/>
            <a:ext cx="3557016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4087368"/>
            <a:ext cx="685800" cy="685800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258818"/>
            <a:ext cx="342900" cy="3429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0200" y="408736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explanations</a:t>
            </a:r>
            <a:endParaRPr lang="en-US" sz="155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95604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reports that turn saliency into plain-language findings.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4315968" y="3858768"/>
            <a:ext cx="3557016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44568" y="4087368"/>
            <a:ext cx="685800" cy="685800"/>
          </a:xfrm>
          <a:prstGeom prst="ellipse">
            <a:avLst/>
          </a:prstGeom>
          <a:solidFill>
            <a:srgbClr val="13233F"/>
          </a:solidFill>
          <a:ln w="12700">
            <a:solidFill>
              <a:srgbClr val="13233F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018" y="4258818"/>
            <a:ext cx="342900" cy="3429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67528" y="408736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Multi-speaker &amp; multilingual</a:t>
            </a:r>
            <a:endParaRPr lang="en-US" sz="1550" dirty="0"/>
          </a:p>
        </p:txBody>
      </p:sp>
      <p:sp>
        <p:nvSpPr>
          <p:cNvPr id="30" name="Text 23"/>
          <p:cNvSpPr txBox="1"/>
          <p:nvPr/>
        </p:nvSpPr>
        <p:spPr>
          <a:xfrm>
            <a:off x="4544568" y="495604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Diarisation-aware fusion across languages and accents.</a:t>
            </a:r>
            <a:endParaRPr lang="en-US" sz="1350" dirty="0"/>
          </a:p>
        </p:txBody>
      </p:sp>
      <p:sp>
        <p:nvSpPr>
          <p:cNvPr id="31" name="Shape 24"/>
          <p:cNvSpPr/>
          <p:nvPr/>
        </p:nvSpPr>
        <p:spPr>
          <a:xfrm>
            <a:off x="8083296" y="3858768"/>
            <a:ext cx="3557016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11896" y="4087368"/>
            <a:ext cx="685800" cy="68580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3346" y="4258818"/>
            <a:ext cx="342900" cy="3429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34856" y="408736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&amp; robust models</a:t>
            </a:r>
            <a:endParaRPr lang="en-US" sz="1550" dirty="0"/>
          </a:p>
        </p:txBody>
      </p:sp>
      <p:sp>
        <p:nvSpPr>
          <p:cNvPr id="35" name="Text 27"/>
          <p:cNvSpPr txBox="1"/>
          <p:nvPr/>
        </p:nvSpPr>
        <p:spPr>
          <a:xfrm>
            <a:off x="8311896" y="495604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for edge devices; robustness to adversarial attacks.</a:t>
            </a:r>
            <a:endParaRPr lang="en-US" sz="13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(IEEE Style) — 1 of 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645920"/>
            <a:ext cx="105613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T. Oorloff, S. Koppisetti et al., "AVFF: Audio-visual feature fusion for video deepfake detection," in Proc. IEEE/CVF CVPR, 2024.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V. S. Katamneni and A. Rattani, "Contextual cross-modal attention for audio-visual deepfake detection and localization," IEEE, 2024.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H. Zou, M. Shen, Y. Hu, C. Chen, E. S. Chng, and D. Rajan, "Cross-modality and within-modality regularization for audio-visual deepfake detection," in Proc. IEEE ICASSP, 2024, pp. 4900–4904.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"X-AVDT: Audio-visual cross-attention for robust deepfake detection," arXiv preprint, 2026.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S. Sandeep Kumar, Yogesh, Prajwal L et al., "Explainable deepfake detection: Integrating Grad-CAM with CNN-RNN architecture," 2024.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A. O. M. Salih et al., "Explainable AI for deepfake detection: A Grad-CAM approach to video forensics," in Proc. 6th Int. Conf. Emerging Technology (INCET), 2025.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"From prediction to explanation: Multimodal, explainable, and interactive deepfake detection framework for non-expert users (DF-P2E)," arXiv:2508.07596, 2025.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"Explainable AI for forensic speech authentication within cognitive and computational neuroscience," Frontiers in Neuroscience, vol. 19, 2025.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M. Sensoy, L. Kaplan, and M. Kandemir, "Evidential deep learning to quantify classification uncertainty," in Proc. NeurIPS, 2018.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 Y. Gal and Z. Ghahramani, "Dropout as a Bayesian approximation: Representing model uncertainty in deep learning," in Proc. ICML, 2016.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(IEEE Style) — 2 of 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S  |  M.Tech CSE (AI &amp; ML)  |  RSET  |  Final Evaluation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9525">
            <a:solidFill>
              <a:srgbClr val="DC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645920"/>
            <a:ext cx="105613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 H. Khalid, S. Tariq, M. Kim, and S. S. Woo, "FakeAVCeleb: A novel audio-video multimodal deepfake dataset," in Proc. NeurIPS Datasets and Benchmarks Track, 2021.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 Q. Zhang, S. Wen, and T. Hu, "Audio deepfake detection with self-supervised XLS-R and SLS classifier," in Proc. ACM Multimedia, 2024.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 R. R. Selvaraju et al., "Grad-CAM: Visual explanations from deep networks via gradient-based localization," in Proc. IEEE ICCV, 2017.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 S. M. Lundberg and S.-I. Lee, "A unified approach to interpreting model predictions," in Proc. NeurIPS, 2017.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 S. Chen et al., "WavLM: Large-scale self-supervised pre-training for full stack speech processing," IEEE J. Sel. Topics Signal Process., vol. 16, no. 6, 2022.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 M. Tan and Q. V. Le, "EfficientNet: Rethinking model scaling for convolutional neural networks," in Proc. ICML, 2019.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 A. Vaswani et al., "Attention is all you need," in Proc. NeurIPS, 2017.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 C. Guo, G. Pleiss, Y. Sun, and K. Q. Weinberger, "On calibration of modern neural networks," in Proc. ICML, 2017.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  K. Zhang, Z. Zhang, Z. Li, and Y. Qiao, "Joint face detection and alignment using multitask cascaded convolutional networks," IEEE Signal Process. Lett., vol. 23, no. 10, 2016.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[20]  Z. Cai et al., "AV-Deepfake1M: A large-scale LLM-driven audio-visual deepfake dataset," in Proc. ACM Multimedia, 2024.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097280"/>
            <a:ext cx="5029200" cy="5029200"/>
          </a:xfrm>
          <a:prstGeom prst="ellipse">
            <a:avLst/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931920"/>
            <a:ext cx="3291840" cy="3291840"/>
          </a:xfrm>
          <a:prstGeom prst="ellipse">
            <a:avLst/>
          </a:prstGeom>
          <a:solidFill>
            <a:srgbClr val="17404F"/>
          </a:solidFill>
          <a:ln w="12700">
            <a:solidFill>
              <a:srgbClr val="1740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63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feedback and live demonstration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06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Gopal  ·  M250801  ·  M.Tech CSE (AI &amp; ML)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Mrs. Megha V, Assistant Professor, Dept. of AI &amp; DS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Rajagiri School of Engineering &amp; Technology (Autonomous), Kochi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&amp; Uncertainty-Aware Audio-Visual Deepfake Detection — Final Evaluation</dc:title>
  <dc:subject>PptxGenJS Presentation</dc:subject>
  <dc:creator>Arya Gopal</dc:creator>
  <cp:lastModifiedBy>Arya Gopal</cp:lastModifiedBy>
  <cp:revision>1</cp:revision>
  <dcterms:created xsi:type="dcterms:W3CDTF">2026-09-21T07:20:23Z</dcterms:created>
  <dcterms:modified xsi:type="dcterms:W3CDTF">2026-09-21T07:20:23Z</dcterms:modified>
</cp:coreProperties>
</file>